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Century Gothic"/>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8lTPZWcS71jSLf4mtOoj4qlw+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CenturyGothic-bold.fntdata"/><Relationship Id="rId23" Type="http://schemas.openxmlformats.org/officeDocument/2006/relationships/font" Target="fonts/CenturyGothic-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CenturyGothic-boldItalic.fntdata"/><Relationship Id="rId25" Type="http://schemas.openxmlformats.org/officeDocument/2006/relationships/font" Target="fonts/CenturyGothic-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d5945c57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cd5945c57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I’m La Monte Henry Piggy Yarroll, and I’m presenting a new tool to help mainly amateurs navigate the open and public domain taxonomic literature by creating detailed taxonomic descriptions. This work is part of my Master’s Degree in Applied Data Science at Syracuse University.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I’ll discuss the construction of the system, and then I’ll walk through the user interface.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50" name="Google Shape;150;g3cd5945c57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d5945c579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cd5945c579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Here is an overview of the SKOL Architecture as seen through subprojects. On the left we have the web sites that we scrape for articles and the ingestors that keep the local copies of journals up to date. The next two blocks represent data storage and cleaning. This dark blue block is a PySpark pipeline that builds a classifier to extract species names and their descriptions from the literature. These names and descriptions are combined into Taxa objects in the light blue box.</a:t>
            </a:r>
            <a:endParaRPr/>
          </a:p>
          <a:p>
            <a:pPr indent="0" lvl="0" marL="0" rtl="0" algn="l">
              <a:lnSpc>
                <a:spcPct val="100000"/>
              </a:lnSpc>
              <a:spcBef>
                <a:spcPts val="0"/>
              </a:spcBef>
              <a:spcAft>
                <a:spcPts val="0"/>
              </a:spcAft>
              <a:buSzPts val="1400"/>
              <a:buNone/>
            </a:pPr>
            <a:r>
              <a:t/>
            </a:r>
            <a:endParaRPr/>
          </a:p>
        </p:txBody>
      </p:sp>
      <p:sp>
        <p:nvSpPr>
          <p:cNvPr id="167" name="Google Shape;167;g3cd5945c579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d5945c579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cd5945c579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 taxa are then processed in two separate paths.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upper path uses an embedding into a searchable semantic space with the SBERT Small Language Model. This embedding is then used to find taxa that are similar to a description provided by the user.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lower path uses a different Small Language Model, Mistral 7b, which translates the free form text description into a hierarchical representation of features, subfeatures, and values. These representations are refined through constrained decoding, which limits the output to valid JSON structures. The vocabulary is then normalized using similarity to published ontologies.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Finally, we have the web site built with Django and React.</a:t>
            </a:r>
            <a:endParaRPr/>
          </a:p>
          <a:p>
            <a:pPr indent="0" lvl="0" marL="0" rtl="0" algn="l">
              <a:lnSpc>
                <a:spcPct val="100000"/>
              </a:lnSpc>
              <a:spcBef>
                <a:spcPts val="0"/>
              </a:spcBef>
              <a:spcAft>
                <a:spcPts val="0"/>
              </a:spcAft>
              <a:buSzPts val="1400"/>
              <a:buNone/>
            </a:pPr>
            <a:r>
              <a:t/>
            </a:r>
            <a:endParaRPr/>
          </a:p>
        </p:txBody>
      </p:sp>
      <p:sp>
        <p:nvSpPr>
          <p:cNvPr id="174" name="Google Shape;174;g3cd5945c579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dd6918926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cdd6918926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Starting from the dark blue box, the Classifier, we have an example of a labeled taxon as produced by the Classifier. Note the Nomenclature and Description annotations.</a:t>
            </a:r>
            <a:endParaRPr/>
          </a:p>
          <a:p>
            <a:pPr indent="0" lvl="0" marL="0" rtl="0" algn="l">
              <a:lnSpc>
                <a:spcPct val="100000"/>
              </a:lnSpc>
              <a:spcBef>
                <a:spcPts val="0"/>
              </a:spcBef>
              <a:spcAft>
                <a:spcPts val="0"/>
              </a:spcAft>
              <a:buSzPts val="1400"/>
              <a:buNone/>
            </a:pPr>
            <a:r>
              <a:t/>
            </a:r>
            <a:endParaRPr/>
          </a:p>
        </p:txBody>
      </p:sp>
      <p:sp>
        <p:nvSpPr>
          <p:cNvPr id="181" name="Google Shape;181;g3cdd6918926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dd6918926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3cdd6918926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extended a tool developed by Nick Gisolfi of the Auton Lab at Carnegie Mellon to search the open mycological literature for species descriptions. The SBERT embedding of descriptions from the literature can be </a:t>
            </a:r>
            <a:r>
              <a:rPr lang="en-US"/>
              <a:t>compared to a description provided by the user to find the most similar descriptions. Since the search is semantic, that is to say meaning-based, the exact vocabulary chosen by the user does not matter very much. We can say “stem” or “stipe” and get mostly the same matches. Even though I’ve yet to do anything special for languages-other-than-English, I’ve even gotten good matches with Latin and German results.</a:t>
            </a:r>
            <a:endParaRPr/>
          </a:p>
        </p:txBody>
      </p:sp>
      <p:sp>
        <p:nvSpPr>
          <p:cNvPr id="189" name="Google Shape;189;g3cdd6918926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dd6918926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cdd6918926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 we have a typical prose description. We use Mistral 7b to translate prose descriptions into a hierarchy of feature, subfeature, and value. This hierarchical form allows further manipulation of the descriptions for making menus and feature selection tools.</a:t>
            </a:r>
            <a:endParaRPr/>
          </a:p>
          <a:p>
            <a:pPr indent="0" lvl="0" marL="0" rtl="0" algn="l">
              <a:lnSpc>
                <a:spcPct val="100000"/>
              </a:lnSpc>
              <a:spcBef>
                <a:spcPts val="0"/>
              </a:spcBef>
              <a:spcAft>
                <a:spcPts val="0"/>
              </a:spcAft>
              <a:buSzPts val="1400"/>
              <a:buNone/>
            </a:pPr>
            <a:r>
              <a:t/>
            </a:r>
            <a:endParaRPr/>
          </a:p>
        </p:txBody>
      </p:sp>
      <p:sp>
        <p:nvSpPr>
          <p:cNvPr id="197" name="Google Shape;197;g3cdd6918926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dd6918926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3cdd6918926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One of the subprojects concentrated on storage technologies. This was the start of integrating pieces from the other projects into a single deployable system. This project was the first I did after learning to use Claude Code, an AI coding agent. Claude really enabled the rest of the work, allowing me to concentrate on behaviors and design, with only light review of code produced by Claude.</a:t>
            </a:r>
            <a:endParaRPr/>
          </a:p>
          <a:p>
            <a:pPr indent="0" lvl="0" marL="0" rtl="0" algn="l">
              <a:lnSpc>
                <a:spcPct val="100000"/>
              </a:lnSpc>
              <a:spcBef>
                <a:spcPts val="0"/>
              </a:spcBef>
              <a:spcAft>
                <a:spcPts val="0"/>
              </a:spcAft>
              <a:buSzPts val="1400"/>
              <a:buNone/>
            </a:pPr>
            <a:r>
              <a:t/>
            </a:r>
            <a:endParaRPr/>
          </a:p>
          <a:p>
            <a:pPr indent="0" lvl="0" marL="0" rtl="0" algn="l">
              <a:spcBef>
                <a:spcPts val="0"/>
              </a:spcBef>
              <a:spcAft>
                <a:spcPts val="0"/>
              </a:spcAft>
              <a:buClr>
                <a:schemeClr val="dk1"/>
              </a:buClr>
              <a:buSzPts val="1100"/>
              <a:buFont typeface="Arial"/>
              <a:buNone/>
            </a:pPr>
            <a:r>
              <a:rPr lang="en-US"/>
              <a:t>I used </a:t>
            </a:r>
            <a:r>
              <a:rPr lang="en-US"/>
              <a:t>pypaperretriever and paperscraper for web ingestion.</a:t>
            </a:r>
            <a:endParaRPr/>
          </a:p>
          <a:p>
            <a:pPr indent="0" lvl="0" marL="0" rtl="0" algn="l">
              <a:spcBef>
                <a:spcPts val="0"/>
              </a:spcBef>
              <a:spcAft>
                <a:spcPts val="0"/>
              </a:spcAft>
              <a:buSzPts val="1100"/>
              <a:buNone/>
            </a:pPr>
            <a:r>
              <a:rPr lang="en-US"/>
              <a:t>A CouchDB JSON database holds a lot of the core data: Scraped journals and books, metadata, taxa records, JSON descriptions.</a:t>
            </a:r>
            <a:endParaRPr/>
          </a:p>
          <a:p>
            <a:pPr indent="0" lvl="0" marL="0" rtl="0" algn="l">
              <a:spcBef>
                <a:spcPts val="0"/>
              </a:spcBef>
              <a:spcAft>
                <a:spcPts val="0"/>
              </a:spcAft>
              <a:buClr>
                <a:schemeClr val="dk1"/>
              </a:buClr>
              <a:buSzPts val="1100"/>
              <a:buFont typeface="Arial"/>
              <a:buNone/>
            </a:pPr>
            <a:r>
              <a:rPr lang="en-US"/>
              <a:t>A Redis in-memory dictionary holds various generated structures needed by the web site including: Models, Fungaria records, and Generated menus.</a:t>
            </a:r>
            <a:endParaRPr/>
          </a:p>
          <a:p>
            <a:pPr indent="0" lvl="0" marL="0" rtl="0" algn="l">
              <a:spcBef>
                <a:spcPts val="0"/>
              </a:spcBef>
              <a:spcAft>
                <a:spcPts val="0"/>
              </a:spcAft>
              <a:buClr>
                <a:schemeClr val="dk1"/>
              </a:buClr>
              <a:buSzPts val="1100"/>
              <a:buFont typeface="Arial"/>
              <a:buNone/>
            </a:pPr>
            <a:r>
              <a:rPr lang="en-US"/>
              <a:t>A PostgreSQL SQL database holds the Django ORM for user accounts, collections, metadata.</a:t>
            </a:r>
            <a:endParaRPr/>
          </a:p>
          <a:p>
            <a:pPr indent="0" lvl="0" marL="0" rtl="0" algn="l">
              <a:spcBef>
                <a:spcPts val="0"/>
              </a:spcBef>
              <a:spcAft>
                <a:spcPts val="0"/>
              </a:spcAft>
              <a:buSzPts val="1400"/>
              <a:buNone/>
            </a:pPr>
            <a:r>
              <a:rPr lang="en-US"/>
              <a:t>I used Neo4j to visualize the SBERT embeddings.</a:t>
            </a:r>
            <a:endParaRPr/>
          </a:p>
        </p:txBody>
      </p:sp>
      <p:sp>
        <p:nvSpPr>
          <p:cNvPr id="206" name="Google Shape;206;g3cdd6918926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18e836f13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3d18e836f13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a:t>Here is a visualization with Neo4j of pseudoclades based on similarity distance in SBERT embeddings.</a:t>
            </a:r>
            <a:endParaRPr/>
          </a:p>
          <a:p>
            <a:pPr indent="0" lvl="0" marL="0" rtl="0" algn="l">
              <a:spcBef>
                <a:spcPts val="0"/>
              </a:spcBef>
              <a:spcAft>
                <a:spcPts val="0"/>
              </a:spcAft>
              <a:buSzPts val="1100"/>
              <a:buNone/>
            </a:pPr>
            <a:r>
              <a:t/>
            </a:r>
            <a:endParaRPr/>
          </a:p>
          <a:p>
            <a:pPr indent="0" lvl="0" marL="0" rtl="0" algn="l">
              <a:spcBef>
                <a:spcPts val="0"/>
              </a:spcBef>
              <a:spcAft>
                <a:spcPts val="0"/>
              </a:spcAft>
              <a:buClr>
                <a:schemeClr val="dk1"/>
              </a:buClr>
              <a:buSzPts val="1400"/>
              <a:buFont typeface="Arial"/>
              <a:buNone/>
            </a:pPr>
            <a:r>
              <a:rPr lang="en-US"/>
              <a:t>The next few slides give more detail on the web site.</a:t>
            </a:r>
            <a:endParaRPr/>
          </a:p>
          <a:p>
            <a:pPr indent="0" lvl="0" marL="0" rtl="0" algn="l">
              <a:spcBef>
                <a:spcPts val="0"/>
              </a:spcBef>
              <a:spcAft>
                <a:spcPts val="0"/>
              </a:spcAft>
              <a:buSzPts val="1400"/>
              <a:buNone/>
            </a:pPr>
            <a:r>
              <a:t/>
            </a:r>
            <a:endParaRPr/>
          </a:p>
        </p:txBody>
      </p:sp>
      <p:sp>
        <p:nvSpPr>
          <p:cNvPr id="214" name="Google Shape;214;g3d18e836f13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d5945c579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3cd5945c579_0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Here is the Search Page from the web site. Here we have the in-progress description built by the user. On the right, we have a set of tools for refining the description.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Each collection can have a descriptive name, and the taxonomist’s best guess on a name.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Every change is automatically tracked.</a:t>
            </a:r>
            <a:endParaRPr/>
          </a:p>
        </p:txBody>
      </p:sp>
      <p:sp>
        <p:nvSpPr>
          <p:cNvPr id="222" name="Google Shape;222;g3cd5945c579_0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d5945c579_0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cd5945c579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This is a search result page. We have the full species name and description from the literature. We also provide links to a local PDF if it is available, and the link back to the original source.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 can also associate identifiers from other </a:t>
            </a:r>
            <a:r>
              <a:rPr lang="en-US"/>
              <a:t>repositories</a:t>
            </a:r>
            <a:r>
              <a:rPr lang="en-US"/>
              <a:t>, such as iNat or MO numbers, or accession numbers for a fungarium. A planned feature will allow the taxonomist to add a description to the iNat entry with a single click.</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400"/>
              <a:buNone/>
            </a:pPr>
            <a:r>
              <a:t/>
            </a:r>
            <a:endParaRPr/>
          </a:p>
        </p:txBody>
      </p:sp>
      <p:sp>
        <p:nvSpPr>
          <p:cNvPr id="230" name="Google Shape;230;g3cd5945c579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cdd691855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3cdd691855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This is the simplest of the feature tools, which creates nested menus base on the JSON hierarchical representations of descriptions. This is a static set of menus and is not tied to the current description.</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400"/>
              <a:buNone/>
            </a:pPr>
            <a:r>
              <a:t/>
            </a:r>
            <a:endParaRPr/>
          </a:p>
        </p:txBody>
      </p:sp>
      <p:sp>
        <p:nvSpPr>
          <p:cNvPr id="238" name="Google Shape;238;g3cdd691855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cd5945c579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cd5945c579_0_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These two tools are based on decision tree models built on-the-fly from the top few taxa that most closely match the current description. The decision tree on the left is based on just the vocabulary of the descriptions. The decision tree on the right is based on the hierarchical JSON representation.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Each feature is a vertical cut through a JSON representation, from feature down to value. The user is invited to edit the preview to </a:t>
            </a:r>
            <a:r>
              <a:rPr lang="en-US"/>
              <a:t>reflect their collection.</a:t>
            </a:r>
            <a:endParaRPr/>
          </a:p>
        </p:txBody>
      </p:sp>
      <p:sp>
        <p:nvSpPr>
          <p:cNvPr id="246" name="Google Shape;246;g3cd5945c579_0_1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cd5945c579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cd5945c579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a:t>The final feature tool helps the user collect statistics for microscopic features. It keeps a permanent record of every measurement. The count n turns green once it gets to 30. Metrics can be 1 dimensional (e.g. length of paraphyses), or 2 </a:t>
            </a:r>
            <a:r>
              <a:rPr lang="en-US"/>
              <a:t>dimensional</a:t>
            </a:r>
            <a:r>
              <a:rPr lang="en-US"/>
              <a:t> (e.g. spores). 2D measurements can also report Q value (ratio of length to width). A Q value of 1.0 indicates round spores. Higher Q values indicate more elongated spores.</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The user can add whatever measurable feature they care to.</a:t>
            </a:r>
            <a:endParaRPr/>
          </a:p>
          <a:p>
            <a:pPr indent="0" lvl="0" marL="0" rtl="0" algn="l">
              <a:spcBef>
                <a:spcPts val="0"/>
              </a:spcBef>
              <a:spcAft>
                <a:spcPts val="0"/>
              </a:spcAft>
              <a:buSzPts val="1100"/>
              <a:buNone/>
            </a:pPr>
            <a:r>
              <a:t/>
            </a:r>
            <a:endParaRPr/>
          </a:p>
        </p:txBody>
      </p:sp>
      <p:sp>
        <p:nvSpPr>
          <p:cNvPr id="255" name="Google Shape;255;g3cd5945c579_0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cdd6918556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3cdd6918556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 web site also includes typical features like account and settings management.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site supports logging in with local credentials or credentials from GitHub, Google, or ORCID. I’m hoping to add iNaturalist soon. If GitHub credentials are available, they will be used to create GitHub Issues for Feedback messages.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settings include the embedding model to use for semantic search. The default model includes all records, which includes all records from the literature and all records generated by site members. Site members may elect to embargo their descriptions for up to 1 year to allow for publication. Additional models will be available in the future, e.g. I plan to add a dichotomous key detector.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Other settings control the number of results retrieved for a search, the number displayed at a time, and the number displayed for a Nomenclature search.</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feature settings control generation of decision trees.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system currently has a single daily report which anybody can subscribe to. This report covers all activity on the site. We will add additional reporting options once the admin report gets too verbose.</a:t>
            </a:r>
            <a:endParaRPr/>
          </a:p>
        </p:txBody>
      </p:sp>
      <p:sp>
        <p:nvSpPr>
          <p:cNvPr id="263" name="Google Shape;263;g3cdd6918556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cd5945c579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3cd5945c579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 plan to keep working on this for some years to come.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web site is currently in alpha test. This means that data may go away, so be sure to download your data regularly. That said, I’m pretty confident that the data formats are stable and a complete database reset is unlikely.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compute </a:t>
            </a:r>
            <a:r>
              <a:rPr lang="en-US"/>
              <a:t>resources</a:t>
            </a:r>
            <a:r>
              <a:rPr lang="en-US"/>
              <a:t> of the current production machine are pretty limited. I think we can support up to three simultaneous searches, though that drops to zero while  rebuilding the embeddings. Right now, embeddings are rebuilt at 6am ET and take less than a half an hour.</a:t>
            </a:r>
            <a:endParaRPr/>
          </a:p>
          <a:p>
            <a:pPr indent="0" lvl="0" marL="0" rtl="0" algn="l">
              <a:lnSpc>
                <a:spcPct val="100000"/>
              </a:lnSpc>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US"/>
              <a:t>I have a data quality project whose completion will trigger beta test.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I’d like to add a glossary tool that lets you hover over technical terms to get definitions.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Precalculated translations of LOTE descriptions are in the moderately near future.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Check the sources page for a current list of journals. Feedback on additional open access journals is solicited.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Eventually, I’d like to expand this to cover other organisms. My short list includes bryophytes. Note that myxomycetes are already included.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See our public Trello for a complete backlog of plans.</a:t>
            </a:r>
            <a:endParaRPr/>
          </a:p>
          <a:p>
            <a:pPr indent="0" lvl="0" marL="0" rtl="0" algn="l">
              <a:lnSpc>
                <a:spcPct val="100000"/>
              </a:lnSpc>
              <a:spcBef>
                <a:spcPts val="0"/>
              </a:spcBef>
              <a:spcAft>
                <a:spcPts val="0"/>
              </a:spcAft>
              <a:buSzPts val="1400"/>
              <a:buNone/>
            </a:pPr>
            <a:r>
              <a:t/>
            </a:r>
            <a:endParaRPr/>
          </a:p>
        </p:txBody>
      </p:sp>
      <p:sp>
        <p:nvSpPr>
          <p:cNvPr id="272" name="Google Shape;272;g3cd5945c579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18e836f1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d18e836f1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These are my collaborators, so far.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Feel free to create an account for yourself and play with the web site!</a:t>
            </a:r>
            <a:endParaRPr/>
          </a:p>
          <a:p>
            <a:pPr indent="0" lvl="0" marL="0" rtl="0" algn="l">
              <a:lnSpc>
                <a:spcPct val="100000"/>
              </a:lnSpc>
              <a:spcBef>
                <a:spcPts val="0"/>
              </a:spcBef>
              <a:spcAft>
                <a:spcPts val="0"/>
              </a:spcAft>
              <a:buSzPts val="1400"/>
              <a:buNone/>
            </a:pPr>
            <a:r>
              <a:t/>
            </a:r>
            <a:endParaRPr/>
          </a:p>
        </p:txBody>
      </p:sp>
      <p:sp>
        <p:nvSpPr>
          <p:cNvPr id="288" name="Google Shape;288;g3d18e836f1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ce41fdc5fc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ce41fdc5fc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Here are links for those interested in diving deeper.</a:t>
            </a:r>
            <a:endParaRPr/>
          </a:p>
        </p:txBody>
      </p:sp>
      <p:sp>
        <p:nvSpPr>
          <p:cNvPr id="307" name="Google Shape;307;g3ce41fdc5fc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18e836f13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d18e836f13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current list of journals.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lot of public domain books are lumped together under “Unknown”. I need to fix the ingesters for local files to provide better metadata.</a:t>
            </a:r>
            <a:endParaRPr/>
          </a:p>
          <a:p>
            <a:pPr indent="0" lvl="0" marL="0" rtl="0" algn="l">
              <a:spcBef>
                <a:spcPts val="0"/>
              </a:spcBef>
              <a:spcAft>
                <a:spcPts val="0"/>
              </a:spcAft>
              <a:buNone/>
            </a:pPr>
            <a:r>
              <a:t/>
            </a:r>
            <a:endParaRPr/>
          </a:p>
        </p:txBody>
      </p:sp>
      <p:sp>
        <p:nvSpPr>
          <p:cNvPr id="314" name="Google Shape;314;g3d18e836f13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7"/>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7200"/>
              <a:buFont typeface="Century Gothic"/>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7"/>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1600"/>
              <a:buNone/>
              <a:defRPr cap="none">
                <a:solidFill>
                  <a:srgbClr val="86D1D8"/>
                </a:solidFill>
              </a:defRPr>
            </a:lvl1pPr>
            <a:lvl2pPr lvl="1" algn="ctr">
              <a:lnSpc>
                <a:spcPct val="100000"/>
              </a:lnSpc>
              <a:spcBef>
                <a:spcPts val="1000"/>
              </a:spcBef>
              <a:spcAft>
                <a:spcPts val="0"/>
              </a:spcAft>
              <a:buSzPts val="1440"/>
              <a:buNone/>
              <a:defRPr>
                <a:solidFill>
                  <a:schemeClr val="lt1"/>
                </a:solidFill>
              </a:defRPr>
            </a:lvl2pPr>
            <a:lvl3pPr lvl="2" algn="ctr">
              <a:lnSpc>
                <a:spcPct val="100000"/>
              </a:lnSpc>
              <a:spcBef>
                <a:spcPts val="1000"/>
              </a:spcBef>
              <a:spcAft>
                <a:spcPts val="0"/>
              </a:spcAft>
              <a:buSzPts val="1280"/>
              <a:buNone/>
              <a:defRPr>
                <a:solidFill>
                  <a:schemeClr val="lt1"/>
                </a:solidFill>
              </a:defRPr>
            </a:lvl3pPr>
            <a:lvl4pPr lvl="3" algn="ctr">
              <a:lnSpc>
                <a:spcPct val="100000"/>
              </a:lnSpc>
              <a:spcBef>
                <a:spcPts val="1000"/>
              </a:spcBef>
              <a:spcAft>
                <a:spcPts val="0"/>
              </a:spcAft>
              <a:buSzPts val="1120"/>
              <a:buNone/>
              <a:defRPr>
                <a:solidFill>
                  <a:schemeClr val="lt1"/>
                </a:solidFill>
              </a:defRPr>
            </a:lvl4pPr>
            <a:lvl5pPr lvl="4" algn="ctr">
              <a:lnSpc>
                <a:spcPct val="100000"/>
              </a:lnSpc>
              <a:spcBef>
                <a:spcPts val="1000"/>
              </a:spcBef>
              <a:spcAft>
                <a:spcPts val="0"/>
              </a:spcAft>
              <a:buSzPts val="1120"/>
              <a:buNone/>
              <a:defRPr>
                <a:solidFill>
                  <a:schemeClr val="lt1"/>
                </a:solidFill>
              </a:defRPr>
            </a:lvl5pPr>
            <a:lvl6pPr lvl="5" algn="ctr">
              <a:lnSpc>
                <a:spcPct val="100000"/>
              </a:lnSpc>
              <a:spcBef>
                <a:spcPts val="1000"/>
              </a:spcBef>
              <a:spcAft>
                <a:spcPts val="0"/>
              </a:spcAft>
              <a:buSzPts val="1120"/>
              <a:buNone/>
              <a:defRPr>
                <a:solidFill>
                  <a:schemeClr val="lt1"/>
                </a:solidFill>
              </a:defRPr>
            </a:lvl6pPr>
            <a:lvl7pPr lvl="6" algn="ctr">
              <a:lnSpc>
                <a:spcPct val="100000"/>
              </a:lnSpc>
              <a:spcBef>
                <a:spcPts val="1000"/>
              </a:spcBef>
              <a:spcAft>
                <a:spcPts val="0"/>
              </a:spcAft>
              <a:buSzPts val="1120"/>
              <a:buNone/>
              <a:defRPr>
                <a:solidFill>
                  <a:schemeClr val="lt1"/>
                </a:solidFill>
              </a:defRPr>
            </a:lvl7pPr>
            <a:lvl8pPr lvl="7" algn="ctr">
              <a:lnSpc>
                <a:spcPct val="100000"/>
              </a:lnSpc>
              <a:spcBef>
                <a:spcPts val="1000"/>
              </a:spcBef>
              <a:spcAft>
                <a:spcPts val="0"/>
              </a:spcAft>
              <a:buSzPts val="1120"/>
              <a:buNone/>
              <a:defRPr>
                <a:solidFill>
                  <a:schemeClr val="lt1"/>
                </a:solidFill>
              </a:defRPr>
            </a:lvl8pPr>
            <a:lvl9pPr lvl="8" algn="ctr">
              <a:lnSpc>
                <a:spcPct val="100000"/>
              </a:lnSpc>
              <a:spcBef>
                <a:spcPts val="1000"/>
              </a:spcBef>
              <a:spcAft>
                <a:spcPts val="0"/>
              </a:spcAft>
              <a:buSzPts val="1120"/>
              <a:buNone/>
              <a:defRPr>
                <a:solidFill>
                  <a:schemeClr val="lt1"/>
                </a:solidFill>
              </a:defRPr>
            </a:lvl9pPr>
          </a:lstStyle>
          <a:p/>
        </p:txBody>
      </p:sp>
      <p:sp>
        <p:nvSpPr>
          <p:cNvPr id="24" name="Google Shape;24;p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 name="Shape 27"/>
        <p:cNvGrpSpPr/>
        <p:nvPr/>
      </p:nvGrpSpPr>
      <p:grpSpPr>
        <a:xfrm>
          <a:off x="0" y="0"/>
          <a:ext cx="0" cy="0"/>
          <a:chOff x="0" y="0"/>
          <a:chExt cx="0" cy="0"/>
        </a:xfrm>
      </p:grpSpPr>
      <p:sp>
        <p:nvSpPr>
          <p:cNvPr id="28" name="Google Shape;28;p1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1"/>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30" name="Google Shape;30;p11"/>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31" name="Google Shape;31;p11"/>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32" name="Google Shape;32;p11"/>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33" name="Google Shape;33;p1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39" name="Google Shape;39;p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12"/>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2"/>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86D1D8"/>
                </a:solidFill>
              </a:defRPr>
            </a:lvl1pPr>
            <a:lvl2pPr indent="-228600" lvl="1" marL="914400" algn="l">
              <a:lnSpc>
                <a:spcPct val="100000"/>
              </a:lnSpc>
              <a:spcBef>
                <a:spcPts val="1000"/>
              </a:spcBef>
              <a:spcAft>
                <a:spcPts val="0"/>
              </a:spcAft>
              <a:buSzPts val="1440"/>
              <a:buNone/>
              <a:defRPr sz="1800">
                <a:solidFill>
                  <a:schemeClr val="lt1"/>
                </a:solidFill>
              </a:defRPr>
            </a:lvl2pPr>
            <a:lvl3pPr indent="-228600" lvl="2" marL="1371600" algn="l">
              <a:lnSpc>
                <a:spcPct val="100000"/>
              </a:lnSpc>
              <a:spcBef>
                <a:spcPts val="1000"/>
              </a:spcBef>
              <a:spcAft>
                <a:spcPts val="0"/>
              </a:spcAft>
              <a:buSzPts val="1280"/>
              <a:buNone/>
              <a:defRPr sz="1600">
                <a:solidFill>
                  <a:schemeClr val="lt1"/>
                </a:solidFill>
              </a:defRPr>
            </a:lvl3pPr>
            <a:lvl4pPr indent="-228600" lvl="3" marL="1828800" algn="l">
              <a:lnSpc>
                <a:spcPct val="100000"/>
              </a:lnSpc>
              <a:spcBef>
                <a:spcPts val="1000"/>
              </a:spcBef>
              <a:spcAft>
                <a:spcPts val="0"/>
              </a:spcAft>
              <a:buSzPts val="1120"/>
              <a:buNone/>
              <a:defRPr sz="1400">
                <a:solidFill>
                  <a:schemeClr val="lt1"/>
                </a:solidFill>
              </a:defRPr>
            </a:lvl4pPr>
            <a:lvl5pPr indent="-228600" lvl="4" marL="2286000" algn="l">
              <a:lnSpc>
                <a:spcPct val="100000"/>
              </a:lnSpc>
              <a:spcBef>
                <a:spcPts val="1000"/>
              </a:spcBef>
              <a:spcAft>
                <a:spcPts val="0"/>
              </a:spcAft>
              <a:buSzPts val="1120"/>
              <a:buNone/>
              <a:defRPr sz="1400">
                <a:solidFill>
                  <a:schemeClr val="lt1"/>
                </a:solidFill>
              </a:defRPr>
            </a:lvl5pPr>
            <a:lvl6pPr indent="-228600" lvl="5" marL="2743200" algn="l">
              <a:lnSpc>
                <a:spcPct val="100000"/>
              </a:lnSpc>
              <a:spcBef>
                <a:spcPts val="1000"/>
              </a:spcBef>
              <a:spcAft>
                <a:spcPts val="0"/>
              </a:spcAft>
              <a:buSzPts val="1120"/>
              <a:buNone/>
              <a:defRPr sz="1400">
                <a:solidFill>
                  <a:schemeClr val="lt1"/>
                </a:solidFill>
              </a:defRPr>
            </a:lvl6pPr>
            <a:lvl7pPr indent="-228600" lvl="6" marL="3200400" algn="l">
              <a:lnSpc>
                <a:spcPct val="100000"/>
              </a:lnSpc>
              <a:spcBef>
                <a:spcPts val="1000"/>
              </a:spcBef>
              <a:spcAft>
                <a:spcPts val="0"/>
              </a:spcAft>
              <a:buSzPts val="1120"/>
              <a:buNone/>
              <a:defRPr sz="1400">
                <a:solidFill>
                  <a:schemeClr val="lt1"/>
                </a:solidFill>
              </a:defRPr>
            </a:lvl7pPr>
            <a:lvl8pPr indent="-228600" lvl="7" marL="3657600" algn="l">
              <a:lnSpc>
                <a:spcPct val="100000"/>
              </a:lnSpc>
              <a:spcBef>
                <a:spcPts val="1000"/>
              </a:spcBef>
              <a:spcAft>
                <a:spcPts val="0"/>
              </a:spcAft>
              <a:buSzPts val="1120"/>
              <a:buNone/>
              <a:defRPr sz="1400">
                <a:solidFill>
                  <a:schemeClr val="lt1"/>
                </a:solidFill>
              </a:defRPr>
            </a:lvl8pPr>
            <a:lvl9pPr indent="-228600" lvl="8" marL="4114800" algn="l">
              <a:lnSpc>
                <a:spcPct val="100000"/>
              </a:lnSpc>
              <a:spcBef>
                <a:spcPts val="1000"/>
              </a:spcBef>
              <a:spcAft>
                <a:spcPts val="0"/>
              </a:spcAft>
              <a:buSzPts val="1120"/>
              <a:buNone/>
              <a:defRPr sz="1400">
                <a:solidFill>
                  <a:schemeClr val="lt1"/>
                </a:solidFill>
              </a:defRPr>
            </a:lvl9pPr>
          </a:lstStyle>
          <a:p/>
        </p:txBody>
      </p:sp>
      <p:sp>
        <p:nvSpPr>
          <p:cNvPr id="45" name="Google Shape;45;p1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1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3"/>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51" name="Google Shape;51;p13"/>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52" name="Google Shape;52;p1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6"/>
          <p:cNvSpPr txBox="1"/>
          <p:nvPr>
            <p:ph type="title"/>
          </p:nvPr>
        </p:nvSpPr>
        <p:spPr>
          <a:xfrm>
            <a:off x="1154953" y="1447800"/>
            <a:ext cx="3401064" cy="1447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6"/>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lnSpc>
                <a:spcPct val="100000"/>
              </a:lnSpc>
              <a:spcBef>
                <a:spcPts val="1000"/>
              </a:spcBef>
              <a:spcAft>
                <a:spcPts val="0"/>
              </a:spcAft>
              <a:buSzPts val="1600"/>
              <a:buChar char="►"/>
              <a:defRPr sz="2000"/>
            </a:lvl1pPr>
            <a:lvl2pPr indent="-320040" lvl="1" marL="914400" algn="l">
              <a:lnSpc>
                <a:spcPct val="100000"/>
              </a:lnSpc>
              <a:spcBef>
                <a:spcPts val="1000"/>
              </a:spcBef>
              <a:spcAft>
                <a:spcPts val="0"/>
              </a:spcAft>
              <a:buSzPts val="1440"/>
              <a:buChar char="►"/>
              <a:defRPr sz="1800"/>
            </a:lvl2pPr>
            <a:lvl3pPr indent="-309880" lvl="2" marL="1371600" algn="l">
              <a:lnSpc>
                <a:spcPct val="100000"/>
              </a:lnSpc>
              <a:spcBef>
                <a:spcPts val="1000"/>
              </a:spcBef>
              <a:spcAft>
                <a:spcPts val="0"/>
              </a:spcAft>
              <a:buSzPts val="1280"/>
              <a:buChar char="►"/>
              <a:defRPr sz="1600"/>
            </a:lvl3pPr>
            <a:lvl4pPr indent="-299719" lvl="3" marL="1828800" algn="l">
              <a:lnSpc>
                <a:spcPct val="100000"/>
              </a:lnSpc>
              <a:spcBef>
                <a:spcPts val="1000"/>
              </a:spcBef>
              <a:spcAft>
                <a:spcPts val="0"/>
              </a:spcAft>
              <a:buSzPts val="1120"/>
              <a:buChar char="►"/>
              <a:defRPr sz="1400"/>
            </a:lvl4pPr>
            <a:lvl5pPr indent="-299720" lvl="4" marL="2286000" algn="l">
              <a:lnSpc>
                <a:spcPct val="100000"/>
              </a:lnSpc>
              <a:spcBef>
                <a:spcPts val="1000"/>
              </a:spcBef>
              <a:spcAft>
                <a:spcPts val="0"/>
              </a:spcAft>
              <a:buSzPts val="1120"/>
              <a:buChar char="►"/>
              <a:defRPr sz="1400"/>
            </a:lvl5pPr>
            <a:lvl6pPr indent="-299720" lvl="5" marL="2743200" algn="l">
              <a:lnSpc>
                <a:spcPct val="100000"/>
              </a:lnSpc>
              <a:spcBef>
                <a:spcPts val="1000"/>
              </a:spcBef>
              <a:spcAft>
                <a:spcPts val="0"/>
              </a:spcAft>
              <a:buSzPts val="1120"/>
              <a:buChar char="►"/>
              <a:defRPr sz="1400"/>
            </a:lvl6pPr>
            <a:lvl7pPr indent="-299720" lvl="6" marL="3200400" algn="l">
              <a:lnSpc>
                <a:spcPct val="100000"/>
              </a:lnSpc>
              <a:spcBef>
                <a:spcPts val="1000"/>
              </a:spcBef>
              <a:spcAft>
                <a:spcPts val="0"/>
              </a:spcAft>
              <a:buSzPts val="1120"/>
              <a:buChar char="►"/>
              <a:defRPr sz="1400"/>
            </a:lvl7pPr>
            <a:lvl8pPr indent="-299720" lvl="7" marL="3657600" algn="l">
              <a:lnSpc>
                <a:spcPct val="100000"/>
              </a:lnSpc>
              <a:spcBef>
                <a:spcPts val="1000"/>
              </a:spcBef>
              <a:spcAft>
                <a:spcPts val="0"/>
              </a:spcAft>
              <a:buSzPts val="1120"/>
              <a:buChar char="►"/>
              <a:defRPr sz="1400"/>
            </a:lvl8pPr>
            <a:lvl9pPr indent="-299720" lvl="8" marL="4114800" algn="l">
              <a:lnSpc>
                <a:spcPct val="100000"/>
              </a:lnSpc>
              <a:spcBef>
                <a:spcPts val="1000"/>
              </a:spcBef>
              <a:spcAft>
                <a:spcPts val="0"/>
              </a:spcAft>
              <a:buSzPts val="1120"/>
              <a:buChar char="►"/>
              <a:defRPr sz="1400"/>
            </a:lvl9pPr>
          </a:lstStyle>
          <a:p/>
        </p:txBody>
      </p:sp>
      <p:sp>
        <p:nvSpPr>
          <p:cNvPr id="67" name="Google Shape;67;p16"/>
          <p:cNvSpPr txBox="1"/>
          <p:nvPr>
            <p:ph idx="2" type="body"/>
          </p:nvPr>
        </p:nvSpPr>
        <p:spPr>
          <a:xfrm>
            <a:off x="1154953"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68" name="Google Shape;68;p1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7"/>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3600"/>
              <a:buFont typeface="Century Gothic"/>
              <a:buNone/>
              <a:defRPr b="0"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7"/>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74" name="Google Shape;74;p17"/>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75" name="Google Shape;75;p1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8" name="Shape 78"/>
        <p:cNvGrpSpPr/>
        <p:nvPr/>
      </p:nvGrpSpPr>
      <p:grpSpPr>
        <a:xfrm>
          <a:off x="0" y="0"/>
          <a:ext cx="0" cy="0"/>
          <a:chOff x="0" y="0"/>
          <a:chExt cx="0" cy="0"/>
        </a:xfrm>
      </p:grpSpPr>
      <p:sp>
        <p:nvSpPr>
          <p:cNvPr id="79" name="Google Shape;79;p18"/>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8"/>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2352"/>
              </a:srgbClr>
            </a:outerShdw>
          </a:effectLst>
        </p:spPr>
      </p:sp>
      <p:sp>
        <p:nvSpPr>
          <p:cNvPr id="81" name="Google Shape;81;p18"/>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2" name="Google Shape;82;p1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5" name="Shape 85"/>
        <p:cNvGrpSpPr/>
        <p:nvPr/>
      </p:nvGrpSpPr>
      <p:grpSpPr>
        <a:xfrm>
          <a:off x="0" y="0"/>
          <a:ext cx="0" cy="0"/>
          <a:chOff x="0" y="0"/>
          <a:chExt cx="0" cy="0"/>
        </a:xfrm>
      </p:grpSpPr>
      <p:sp>
        <p:nvSpPr>
          <p:cNvPr id="86" name="Google Shape;86;p19"/>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9"/>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8" name="Google Shape;88;p1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1" name="Shape 91"/>
        <p:cNvGrpSpPr/>
        <p:nvPr/>
      </p:nvGrpSpPr>
      <p:grpSpPr>
        <a:xfrm>
          <a:off x="0" y="0"/>
          <a:ext cx="0" cy="0"/>
          <a:chOff x="0" y="0"/>
          <a:chExt cx="0" cy="0"/>
        </a:xfrm>
      </p:grpSpPr>
      <p:sp>
        <p:nvSpPr>
          <p:cNvPr id="92" name="Google Shape;92;p20"/>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0"/>
          <p:cNvSpPr txBox="1"/>
          <p:nvPr>
            <p:ph idx="1" type="body"/>
          </p:nvPr>
        </p:nvSpPr>
        <p:spPr>
          <a:xfrm>
            <a:off x="1930400" y="3771174"/>
            <a:ext cx="7279649" cy="34217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94" name="Google Shape;94;p20"/>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95" name="Google Shape;95;p2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
        <p:nvSpPr>
          <p:cNvPr id="98" name="Google Shape;98;p20"/>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US" sz="12200" u="none" cap="none" strike="noStrike">
                <a:solidFill>
                  <a:srgbClr val="86D1D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99" name="Google Shape;99;p20"/>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US" sz="12200" u="none" cap="none" strike="noStrike">
                <a:solidFill>
                  <a:srgbClr val="86D1D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0" name="Shape 100"/>
        <p:cNvGrpSpPr/>
        <p:nvPr/>
      </p:nvGrpSpPr>
      <p:grpSpPr>
        <a:xfrm>
          <a:off x="0" y="0"/>
          <a:ext cx="0" cy="0"/>
          <a:chOff x="0" y="0"/>
          <a:chExt cx="0" cy="0"/>
        </a:xfrm>
      </p:grpSpPr>
      <p:sp>
        <p:nvSpPr>
          <p:cNvPr id="101" name="Google Shape;101;p21"/>
          <p:cNvSpPr txBox="1"/>
          <p:nvPr>
            <p:ph type="title"/>
          </p:nvPr>
        </p:nvSpPr>
        <p:spPr>
          <a:xfrm>
            <a:off x="1154954" y="3124201"/>
            <a:ext cx="8825660" cy="165318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1"/>
          <p:cNvSpPr txBox="1"/>
          <p:nvPr>
            <p:ph idx="1" type="body"/>
          </p:nvPr>
        </p:nvSpPr>
        <p:spPr>
          <a:xfrm>
            <a:off x="1154954" y="4777381"/>
            <a:ext cx="8825659"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86D1D8"/>
                </a:solidFill>
              </a:defRPr>
            </a:lvl1pPr>
            <a:lvl2pPr indent="-228600" lvl="1" marL="914400" algn="l">
              <a:lnSpc>
                <a:spcPct val="100000"/>
              </a:lnSpc>
              <a:spcBef>
                <a:spcPts val="1000"/>
              </a:spcBef>
              <a:spcAft>
                <a:spcPts val="0"/>
              </a:spcAft>
              <a:buSzPts val="1440"/>
              <a:buNone/>
              <a:defRPr sz="1800">
                <a:solidFill>
                  <a:schemeClr val="lt1"/>
                </a:solidFill>
              </a:defRPr>
            </a:lvl2pPr>
            <a:lvl3pPr indent="-228600" lvl="2" marL="1371600" algn="l">
              <a:lnSpc>
                <a:spcPct val="100000"/>
              </a:lnSpc>
              <a:spcBef>
                <a:spcPts val="1000"/>
              </a:spcBef>
              <a:spcAft>
                <a:spcPts val="0"/>
              </a:spcAft>
              <a:buSzPts val="1280"/>
              <a:buNone/>
              <a:defRPr sz="1600">
                <a:solidFill>
                  <a:schemeClr val="lt1"/>
                </a:solidFill>
              </a:defRPr>
            </a:lvl3pPr>
            <a:lvl4pPr indent="-228600" lvl="3" marL="1828800" algn="l">
              <a:lnSpc>
                <a:spcPct val="100000"/>
              </a:lnSpc>
              <a:spcBef>
                <a:spcPts val="1000"/>
              </a:spcBef>
              <a:spcAft>
                <a:spcPts val="0"/>
              </a:spcAft>
              <a:buSzPts val="1120"/>
              <a:buNone/>
              <a:defRPr sz="1400">
                <a:solidFill>
                  <a:schemeClr val="lt1"/>
                </a:solidFill>
              </a:defRPr>
            </a:lvl4pPr>
            <a:lvl5pPr indent="-228600" lvl="4" marL="2286000" algn="l">
              <a:lnSpc>
                <a:spcPct val="100000"/>
              </a:lnSpc>
              <a:spcBef>
                <a:spcPts val="1000"/>
              </a:spcBef>
              <a:spcAft>
                <a:spcPts val="0"/>
              </a:spcAft>
              <a:buSzPts val="1120"/>
              <a:buNone/>
              <a:defRPr sz="1400">
                <a:solidFill>
                  <a:schemeClr val="lt1"/>
                </a:solidFill>
              </a:defRPr>
            </a:lvl5pPr>
            <a:lvl6pPr indent="-228600" lvl="5" marL="2743200" algn="l">
              <a:lnSpc>
                <a:spcPct val="100000"/>
              </a:lnSpc>
              <a:spcBef>
                <a:spcPts val="1000"/>
              </a:spcBef>
              <a:spcAft>
                <a:spcPts val="0"/>
              </a:spcAft>
              <a:buSzPts val="1120"/>
              <a:buNone/>
              <a:defRPr sz="1400">
                <a:solidFill>
                  <a:schemeClr val="lt1"/>
                </a:solidFill>
              </a:defRPr>
            </a:lvl6pPr>
            <a:lvl7pPr indent="-228600" lvl="6" marL="3200400" algn="l">
              <a:lnSpc>
                <a:spcPct val="100000"/>
              </a:lnSpc>
              <a:spcBef>
                <a:spcPts val="1000"/>
              </a:spcBef>
              <a:spcAft>
                <a:spcPts val="0"/>
              </a:spcAft>
              <a:buSzPts val="1120"/>
              <a:buNone/>
              <a:defRPr sz="1400">
                <a:solidFill>
                  <a:schemeClr val="lt1"/>
                </a:solidFill>
              </a:defRPr>
            </a:lvl7pPr>
            <a:lvl8pPr indent="-228600" lvl="7" marL="3657600" algn="l">
              <a:lnSpc>
                <a:spcPct val="100000"/>
              </a:lnSpc>
              <a:spcBef>
                <a:spcPts val="1000"/>
              </a:spcBef>
              <a:spcAft>
                <a:spcPts val="0"/>
              </a:spcAft>
              <a:buSzPts val="1120"/>
              <a:buNone/>
              <a:defRPr sz="1400">
                <a:solidFill>
                  <a:schemeClr val="lt1"/>
                </a:solidFill>
              </a:defRPr>
            </a:lvl8pPr>
            <a:lvl9pPr indent="-228600" lvl="8" marL="4114800" algn="l">
              <a:lnSpc>
                <a:spcPct val="100000"/>
              </a:lnSpc>
              <a:spcBef>
                <a:spcPts val="1000"/>
              </a:spcBef>
              <a:spcAft>
                <a:spcPts val="0"/>
              </a:spcAft>
              <a:buSzPts val="1120"/>
              <a:buNone/>
              <a:defRPr sz="1400">
                <a:solidFill>
                  <a:schemeClr val="lt1"/>
                </a:solidFill>
              </a:defRPr>
            </a:lvl9pPr>
          </a:lstStyle>
          <a:p/>
        </p:txBody>
      </p:sp>
      <p:sp>
        <p:nvSpPr>
          <p:cNvPr id="103" name="Google Shape;103;p2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6" name="Shape 106"/>
        <p:cNvGrpSpPr/>
        <p:nvPr/>
      </p:nvGrpSpPr>
      <p:grpSpPr>
        <a:xfrm>
          <a:off x="0" y="0"/>
          <a:ext cx="0" cy="0"/>
          <a:chOff x="0" y="0"/>
          <a:chExt cx="0" cy="0"/>
        </a:xfrm>
      </p:grpSpPr>
      <p:sp>
        <p:nvSpPr>
          <p:cNvPr id="107" name="Google Shape;107;p2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2"/>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09" name="Google Shape;109;p22"/>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10" name="Google Shape;110;p22"/>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11" name="Google Shape;111;p22"/>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12" name="Google Shape;112;p22"/>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13" name="Google Shape;113;p22"/>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114" name="Google Shape;114;p22"/>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5" name="Google Shape;115;p22"/>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6" name="Google Shape;116;p2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9" name="Shape 119"/>
        <p:cNvGrpSpPr/>
        <p:nvPr/>
      </p:nvGrpSpPr>
      <p:grpSpPr>
        <a:xfrm>
          <a:off x="0" y="0"/>
          <a:ext cx="0" cy="0"/>
          <a:chOff x="0" y="0"/>
          <a:chExt cx="0" cy="0"/>
        </a:xfrm>
      </p:grpSpPr>
      <p:sp>
        <p:nvSpPr>
          <p:cNvPr id="120" name="Google Shape;120;p2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3"/>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2" name="Google Shape;122;p23"/>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23" name="Google Shape;123;p23"/>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4" name="Google Shape;124;p23"/>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5" name="Google Shape;125;p23"/>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26" name="Google Shape;126;p23"/>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7" name="Google Shape;127;p23"/>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8" name="Google Shape;128;p23"/>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29" name="Google Shape;129;p23"/>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130" name="Google Shape;130;p23"/>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31" name="Google Shape;131;p23"/>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32" name="Google Shape;132;p2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2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5" name="Shape 135"/>
        <p:cNvGrpSpPr/>
        <p:nvPr/>
      </p:nvGrpSpPr>
      <p:grpSpPr>
        <a:xfrm>
          <a:off x="0" y="0"/>
          <a:ext cx="0" cy="0"/>
          <a:chOff x="0" y="0"/>
          <a:chExt cx="0" cy="0"/>
        </a:xfrm>
      </p:grpSpPr>
      <p:sp>
        <p:nvSpPr>
          <p:cNvPr id="136" name="Google Shape;136;p2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24"/>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38" name="Google Shape;138;p2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1" name="Shape 141"/>
        <p:cNvGrpSpPr/>
        <p:nvPr/>
      </p:nvGrpSpPr>
      <p:grpSpPr>
        <a:xfrm>
          <a:off x="0" y="0"/>
          <a:ext cx="0" cy="0"/>
          <a:chOff x="0" y="0"/>
          <a:chExt cx="0" cy="0"/>
        </a:xfrm>
      </p:grpSpPr>
      <p:sp>
        <p:nvSpPr>
          <p:cNvPr id="142" name="Google Shape;142;p25"/>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25"/>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44" name="Google Shape;144;p2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5.xml"/><Relationship Id="rId11" Type="http://schemas.openxmlformats.org/officeDocument/2006/relationships/slideLayout" Target="../slideLayouts/slideLayout6.xml"/><Relationship Id="rId22" Type="http://schemas.openxmlformats.org/officeDocument/2006/relationships/slideLayout" Target="../slideLayouts/slideLayout17.xml"/><Relationship Id="rId10" Type="http://schemas.openxmlformats.org/officeDocument/2006/relationships/slideLayout" Target="../slideLayouts/slideLayout5.xml"/><Relationship Id="rId21" Type="http://schemas.openxmlformats.org/officeDocument/2006/relationships/slideLayout" Target="../slideLayouts/slideLayout16.xml"/><Relationship Id="rId13" Type="http://schemas.openxmlformats.org/officeDocument/2006/relationships/slideLayout" Target="../slideLayouts/slideLayout8.xml"/><Relationship Id="rId12" Type="http://schemas.openxmlformats.org/officeDocument/2006/relationships/slideLayout" Target="../slideLayouts/slideLayout7.xml"/><Relationship Id="rId23" Type="http://schemas.openxmlformats.org/officeDocument/2006/relationships/theme" Target="../theme/theme1.xml"/><Relationship Id="rId1" Type="http://schemas.openxmlformats.org/officeDocument/2006/relationships/image" Target="../media/image14.png"/><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slideLayout" Target="../slideLayouts/slideLayout12.xml"/><Relationship Id="rId16" Type="http://schemas.openxmlformats.org/officeDocument/2006/relationships/slideLayout" Target="../slideLayouts/slideLayout11.xml"/><Relationship Id="rId5" Type="http://schemas.openxmlformats.org/officeDocument/2006/relationships/image" Target="../media/image2.png"/><Relationship Id="rId19" Type="http://schemas.openxmlformats.org/officeDocument/2006/relationships/slideLayout" Target="../slideLayouts/slideLayout14.xml"/><Relationship Id="rId6" Type="http://schemas.openxmlformats.org/officeDocument/2006/relationships/slideLayout" Target="../slideLayouts/slideLayout1.xml"/><Relationship Id="rId18" Type="http://schemas.openxmlformats.org/officeDocument/2006/relationships/slideLayout" Target="../slideLayouts/slideLayout13.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pic>
        <p:nvPicPr>
          <p:cNvPr id="10" name="Google Shape;10;p6"/>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11" name="Google Shape;11;p6"/>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12" name="Google Shape;12;p6"/>
          <p:cNvSpPr/>
          <p:nvPr/>
        </p:nvSpPr>
        <p:spPr>
          <a:xfrm>
            <a:off x="8609012" y="1676400"/>
            <a:ext cx="2819400" cy="2819400"/>
          </a:xfrm>
          <a:prstGeom prst="ellipse">
            <a:avLst/>
          </a:prstGeom>
          <a:gradFill>
            <a:gsLst>
              <a:gs pos="0">
                <a:srgbClr val="4CB9C3">
                  <a:alpha val="6274"/>
                </a:srgbClr>
              </a:gs>
              <a:gs pos="36000">
                <a:srgbClr val="4CB9C3">
                  <a:alpha val="5490"/>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 name="Google Shape;13;p6"/>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4" name="Google Shape;14;p6"/>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5" name="Google Shape;15;p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17" name="Google Shape;17;p6"/>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100000"/>
              </a:lnSpc>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lnSpc>
                <a:spcPct val="100000"/>
              </a:lnSpc>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lnSpc>
                <a:spcPct val="100000"/>
              </a:lnSpc>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8" name="Google Shape;18;p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9" name="Google Shape;19;p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20" name="Google Shape;20;p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24.jpg"/><Relationship Id="rId5" Type="http://schemas.openxmlformats.org/officeDocument/2006/relationships/image" Target="../media/image2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26.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hyperlink" Target="https://trello.com/b/jUkRE6zv/skol" TargetMode="External"/><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7.jpg"/></Relationships>
</file>

<file path=ppt/slides/_rels/slide17.xml.rels><?xml version="1.0" encoding="UTF-8" standalone="yes"?><Relationships xmlns="http://schemas.openxmlformats.org/package/2006/relationships"><Relationship Id="rId10" Type="http://schemas.openxmlformats.org/officeDocument/2006/relationships/image" Target="../media/image7.jp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tinyurl.com/ykwt8dkv" TargetMode="External"/><Relationship Id="rId4" Type="http://schemas.openxmlformats.org/officeDocument/2006/relationships/hyperlink" Target="https://tinyurl.com/54paunua" TargetMode="External"/><Relationship Id="rId9" Type="http://schemas.openxmlformats.org/officeDocument/2006/relationships/hyperlink" Target="https://github.com/piggyatbaqaqi/skol/blob/main/docs/technologies.md" TargetMode="External"/><Relationship Id="rId5" Type="http://schemas.openxmlformats.org/officeDocument/2006/relationships/hyperlink" Target="https://synoptickeyof.life/skol" TargetMode="External"/><Relationship Id="rId6" Type="http://schemas.openxmlformats.org/officeDocument/2006/relationships/hyperlink" Target="https://github.com/piggyatbaqaqi/skol" TargetMode="External"/><Relationship Id="rId7" Type="http://schemas.openxmlformats.org/officeDocument/2006/relationships/hyperlink" Target="https://github.com/autonlab/dr-drafts-sota-literature-search" TargetMode="External"/><Relationship Id="rId8" Type="http://schemas.openxmlformats.org/officeDocument/2006/relationships/hyperlink" Target="https://github.com/piggyatbaqaqi/dr-drafts-mycosearch"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jp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pic>
        <p:nvPicPr>
          <p:cNvPr id="152" name="Google Shape;152;g3cd5945c579_0_0"/>
          <p:cNvPicPr preferRelativeResize="0"/>
          <p:nvPr/>
        </p:nvPicPr>
        <p:blipFill rotWithShape="1">
          <a:blip r:embed="rId4">
            <a:alphaModFix/>
          </a:blip>
          <a:srcRect b="0" l="3614" r="0" t="0"/>
          <a:stretch/>
        </p:blipFill>
        <p:spPr>
          <a:xfrm>
            <a:off x="0" y="2669685"/>
            <a:ext cx="4037011" cy="4188314"/>
          </a:xfrm>
          <a:prstGeom prst="rect">
            <a:avLst/>
          </a:prstGeom>
          <a:noFill/>
          <a:ln>
            <a:noFill/>
          </a:ln>
        </p:spPr>
      </p:pic>
      <p:pic>
        <p:nvPicPr>
          <p:cNvPr id="153" name="Google Shape;153;g3cd5945c579_0_0"/>
          <p:cNvPicPr preferRelativeResize="0"/>
          <p:nvPr/>
        </p:nvPicPr>
        <p:blipFill rotWithShape="1">
          <a:blip r:embed="rId5">
            <a:alphaModFix/>
          </a:blip>
          <a:srcRect b="0" l="35642" r="0" t="0"/>
          <a:stretch/>
        </p:blipFill>
        <p:spPr>
          <a:xfrm>
            <a:off x="0" y="2892347"/>
            <a:ext cx="1522412" cy="2365453"/>
          </a:xfrm>
          <a:prstGeom prst="rect">
            <a:avLst/>
          </a:prstGeom>
          <a:noFill/>
          <a:ln>
            <a:noFill/>
          </a:ln>
        </p:spPr>
      </p:pic>
      <p:sp>
        <p:nvSpPr>
          <p:cNvPr id="154" name="Google Shape;154;g3cd5945c579_0_0"/>
          <p:cNvSpPr/>
          <p:nvPr/>
        </p:nvSpPr>
        <p:spPr>
          <a:xfrm>
            <a:off x="8609012" y="1676400"/>
            <a:ext cx="2819400" cy="2819400"/>
          </a:xfrm>
          <a:prstGeom prst="ellipse">
            <a:avLst/>
          </a:prstGeom>
          <a:gradFill>
            <a:gsLst>
              <a:gs pos="0">
                <a:srgbClr val="4CB9C3">
                  <a:alpha val="6274"/>
                </a:srgbClr>
              </a:gs>
              <a:gs pos="36000">
                <a:srgbClr val="4CB9C3">
                  <a:alpha val="5490"/>
                </a:srgbClr>
              </a:gs>
              <a:gs pos="69000">
                <a:srgbClr val="4CB9C3">
                  <a:alpha val="0"/>
                </a:srgbClr>
              </a:gs>
              <a:gs pos="100000">
                <a:srgbClr val="4CB9C3">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pic>
        <p:nvPicPr>
          <p:cNvPr id="155" name="Google Shape;155;g3cd5945c579_0_0"/>
          <p:cNvPicPr preferRelativeResize="0"/>
          <p:nvPr/>
        </p:nvPicPr>
        <p:blipFill rotWithShape="1">
          <a:blip r:embed="rId6">
            <a:alphaModFix/>
          </a:blip>
          <a:srcRect b="0" l="0" r="0" t="28810"/>
          <a:stretch/>
        </p:blipFill>
        <p:spPr>
          <a:xfrm>
            <a:off x="7999412" y="0"/>
            <a:ext cx="1603387" cy="1141407"/>
          </a:xfrm>
          <a:prstGeom prst="rect">
            <a:avLst/>
          </a:prstGeom>
          <a:noFill/>
          <a:ln>
            <a:noFill/>
          </a:ln>
        </p:spPr>
      </p:pic>
      <p:pic>
        <p:nvPicPr>
          <p:cNvPr id="156" name="Google Shape;156;g3cd5945c579_0_0"/>
          <p:cNvPicPr preferRelativeResize="0"/>
          <p:nvPr/>
        </p:nvPicPr>
        <p:blipFill rotWithShape="1">
          <a:blip r:embed="rId7">
            <a:alphaModFix/>
          </a:blip>
          <a:srcRect b="23319" l="0" r="0" t="0"/>
          <a:stretch/>
        </p:blipFill>
        <p:spPr>
          <a:xfrm>
            <a:off x="8605878" y="6096000"/>
            <a:ext cx="993734" cy="762000"/>
          </a:xfrm>
          <a:prstGeom prst="rect">
            <a:avLst/>
          </a:prstGeom>
          <a:noFill/>
          <a:ln>
            <a:noFill/>
          </a:ln>
        </p:spPr>
      </p:pic>
      <p:sp>
        <p:nvSpPr>
          <p:cNvPr id="157" name="Google Shape;157;g3cd5945c579_0_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58" name="Google Shape;158;g3cd5945c579_0_0"/>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59" name="Google Shape;159;g3cd5945c579_0_0"/>
          <p:cNvSpPr txBox="1"/>
          <p:nvPr>
            <p:ph type="ctrTitle"/>
          </p:nvPr>
        </p:nvSpPr>
        <p:spPr>
          <a:xfrm>
            <a:off x="648921" y="629275"/>
            <a:ext cx="11202600" cy="16224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rgbClr val="EBEBEB"/>
              </a:buClr>
              <a:buSzPct val="58333"/>
              <a:buFont typeface="Century Gothic"/>
              <a:buNone/>
            </a:pPr>
            <a:r>
              <a:rPr lang="en-US"/>
              <a:t>Building the</a:t>
            </a:r>
            <a:endParaRPr/>
          </a:p>
          <a:p>
            <a:pPr indent="0" lvl="0" marL="0" rtl="0" algn="l">
              <a:lnSpc>
                <a:spcPct val="100000"/>
              </a:lnSpc>
              <a:spcBef>
                <a:spcPts val="0"/>
              </a:spcBef>
              <a:spcAft>
                <a:spcPts val="0"/>
              </a:spcAft>
              <a:buClr>
                <a:srgbClr val="EBEBEB"/>
              </a:buClr>
              <a:buSzPct val="58333"/>
              <a:buFont typeface="Century Gothic"/>
              <a:buNone/>
            </a:pPr>
            <a:r>
              <a:rPr lang="en-US"/>
              <a:t>Synoptic Key of</a:t>
            </a:r>
            <a:endParaRPr/>
          </a:p>
          <a:p>
            <a:pPr indent="0" lvl="0" marL="0" rtl="0" algn="l">
              <a:lnSpc>
                <a:spcPct val="100000"/>
              </a:lnSpc>
              <a:spcBef>
                <a:spcPts val="0"/>
              </a:spcBef>
              <a:spcAft>
                <a:spcPts val="0"/>
              </a:spcAft>
              <a:buClr>
                <a:srgbClr val="EBEBEB"/>
              </a:buClr>
              <a:buSzPct val="58333"/>
              <a:buFont typeface="Century Gothic"/>
              <a:buNone/>
            </a:pPr>
            <a:r>
              <a:rPr lang="en-US"/>
              <a:t>Life website</a:t>
            </a:r>
            <a:endParaRPr/>
          </a:p>
          <a:p>
            <a:pPr indent="0" lvl="0" marL="0" rtl="0" algn="l">
              <a:lnSpc>
                <a:spcPct val="100000"/>
              </a:lnSpc>
              <a:spcBef>
                <a:spcPts val="0"/>
              </a:spcBef>
              <a:spcAft>
                <a:spcPts val="0"/>
              </a:spcAft>
              <a:buClr>
                <a:srgbClr val="EBEBEB"/>
              </a:buClr>
              <a:buSzPct val="58332"/>
              <a:buFont typeface="Century Gothic"/>
              <a:buNone/>
            </a:pPr>
            <a:r>
              <a:t/>
            </a:r>
            <a:endParaRPr/>
          </a:p>
        </p:txBody>
      </p:sp>
      <p:sp>
        <p:nvSpPr>
          <p:cNvPr id="160" name="Google Shape;160;g3cd5945c579_0_0"/>
          <p:cNvSpPr txBox="1"/>
          <p:nvPr>
            <p:ph idx="1" type="subTitle"/>
          </p:nvPr>
        </p:nvSpPr>
        <p:spPr>
          <a:xfrm>
            <a:off x="648925" y="3709650"/>
            <a:ext cx="6188100" cy="2181600"/>
          </a:xfrm>
          <a:prstGeom prst="rect">
            <a:avLst/>
          </a:prstGeom>
          <a:noFill/>
          <a:ln>
            <a:noFill/>
          </a:ln>
        </p:spPr>
        <p:txBody>
          <a:bodyPr anchorCtr="0" anchor="t" bIns="45700" lIns="91425" spcFirstLastPara="1" rIns="91425" wrap="square" tIns="45700">
            <a:normAutofit lnSpcReduction="10000"/>
          </a:bodyPr>
          <a:lstStyle/>
          <a:p>
            <a:pPr indent="-431800" lvl="0" marL="457200" rtl="0" algn="l">
              <a:lnSpc>
                <a:spcPct val="100000"/>
              </a:lnSpc>
              <a:spcBef>
                <a:spcPts val="0"/>
              </a:spcBef>
              <a:spcAft>
                <a:spcPts val="0"/>
              </a:spcAft>
              <a:buSzPts val="1600"/>
              <a:buChar char="►"/>
            </a:pPr>
            <a:r>
              <a:rPr lang="en-US">
                <a:solidFill>
                  <a:schemeClr val="lt1"/>
                </a:solidFill>
              </a:rPr>
              <a:t>La Monte Henry Piggy Yarroll</a:t>
            </a:r>
            <a:endParaRPr>
              <a:solidFill>
                <a:schemeClr val="lt1"/>
              </a:solidFill>
            </a:endParaRPr>
          </a:p>
          <a:p>
            <a:pPr indent="-431800" lvl="0" marL="457200" rtl="0" algn="l">
              <a:lnSpc>
                <a:spcPct val="100000"/>
              </a:lnSpc>
              <a:spcBef>
                <a:spcPts val="0"/>
              </a:spcBef>
              <a:spcAft>
                <a:spcPts val="0"/>
              </a:spcAft>
              <a:buClr>
                <a:schemeClr val="lt1"/>
              </a:buClr>
              <a:buSzPts val="1600"/>
              <a:buChar char="►"/>
            </a:pPr>
            <a:r>
              <a:rPr lang="en-US">
                <a:solidFill>
                  <a:schemeClr val="lt1"/>
                </a:solidFill>
              </a:rPr>
              <a:t>MASMC 2026</a:t>
            </a:r>
            <a:endParaRPr>
              <a:solidFill>
                <a:schemeClr val="lt1"/>
              </a:solidFill>
            </a:endParaRPr>
          </a:p>
          <a:p>
            <a:pPr indent="-431800" lvl="0" marL="457200" rtl="0" algn="l">
              <a:lnSpc>
                <a:spcPct val="100000"/>
              </a:lnSpc>
              <a:spcBef>
                <a:spcPts val="0"/>
              </a:spcBef>
              <a:spcAft>
                <a:spcPts val="0"/>
              </a:spcAft>
              <a:buClr>
                <a:schemeClr val="lt1"/>
              </a:buClr>
              <a:buSzPts val="1600"/>
              <a:buChar char="►"/>
            </a:pPr>
            <a:r>
              <a:rPr lang="en-US">
                <a:solidFill>
                  <a:schemeClr val="lt1"/>
                </a:solidFill>
              </a:rPr>
              <a:t>2026-04-25</a:t>
            </a:r>
            <a:endParaRPr>
              <a:solidFill>
                <a:schemeClr val="lt1"/>
              </a:solidFill>
            </a:endParaRPr>
          </a:p>
          <a:p>
            <a:pPr indent="-431800" lvl="0" marL="457200" rtl="0" algn="l">
              <a:lnSpc>
                <a:spcPct val="100000"/>
              </a:lnSpc>
              <a:spcBef>
                <a:spcPts val="0"/>
              </a:spcBef>
              <a:spcAft>
                <a:spcPts val="0"/>
              </a:spcAft>
              <a:buClr>
                <a:schemeClr val="lt1"/>
              </a:buClr>
              <a:buSzPts val="1600"/>
              <a:buChar char="►"/>
            </a:pPr>
            <a:r>
              <a:rPr lang="en-US" sz="1800">
                <a:solidFill>
                  <a:schemeClr val="lt1"/>
                </a:solidFill>
                <a:latin typeface="Arial"/>
                <a:ea typeface="Arial"/>
                <a:cs typeface="Arial"/>
                <a:sym typeface="Arial"/>
              </a:rPr>
              <a:t>North Carolina Agricultural and Technical State (NCA&amp;T) University</a:t>
            </a:r>
            <a:endParaRPr sz="1800">
              <a:solidFill>
                <a:schemeClr val="lt1"/>
              </a:solidFill>
              <a:latin typeface="Arial"/>
              <a:ea typeface="Arial"/>
              <a:cs typeface="Arial"/>
              <a:sym typeface="Arial"/>
            </a:endParaRPr>
          </a:p>
          <a:p>
            <a:pPr indent="0" lvl="0" marL="0" rtl="0" algn="l">
              <a:lnSpc>
                <a:spcPct val="100000"/>
              </a:lnSpc>
              <a:spcBef>
                <a:spcPts val="0"/>
              </a:spcBef>
              <a:spcAft>
                <a:spcPts val="0"/>
              </a:spcAft>
              <a:buNone/>
            </a:pPr>
            <a:r>
              <a:t/>
            </a:r>
            <a:endParaRPr>
              <a:solidFill>
                <a:schemeClr val="lt1"/>
              </a:solidFill>
            </a:endParaRPr>
          </a:p>
          <a:p>
            <a:pPr indent="0" lvl="0" marL="0" rtl="0" algn="l">
              <a:lnSpc>
                <a:spcPct val="100000"/>
              </a:lnSpc>
              <a:spcBef>
                <a:spcPts val="1000"/>
              </a:spcBef>
              <a:spcAft>
                <a:spcPts val="0"/>
              </a:spcAft>
              <a:buSzPts val="1600"/>
              <a:buNone/>
            </a:pPr>
            <a:r>
              <a:t/>
            </a:r>
            <a:endParaRPr/>
          </a:p>
        </p:txBody>
      </p:sp>
      <p:sp>
        <p:nvSpPr>
          <p:cNvPr id="161" name="Google Shape;161;g3cd5945c579_0_0"/>
          <p:cNvSpPr/>
          <p:nvPr/>
        </p:nvSpPr>
        <p:spPr>
          <a:xfrm>
            <a:off x="7015974" y="-1"/>
            <a:ext cx="559472" cy="3709642"/>
          </a:xfrm>
          <a:custGeom>
            <a:rect b="b" l="l" r="r" t="t"/>
            <a:pathLst>
              <a:path extrusionOk="0" h="3709642" w="55947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62" name="Google Shape;162;g3cd5945c579_0_0"/>
          <p:cNvSpPr txBox="1"/>
          <p:nvPr/>
        </p:nvSpPr>
        <p:spPr>
          <a:xfrm>
            <a:off x="1280800" y="3599225"/>
            <a:ext cx="9338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latin typeface="Century Gothic"/>
              <a:ea typeface="Century Gothic"/>
              <a:cs typeface="Century Gothic"/>
              <a:sym typeface="Century Gothic"/>
            </a:endParaRPr>
          </a:p>
        </p:txBody>
      </p:sp>
      <p:pic>
        <p:nvPicPr>
          <p:cNvPr id="163" name="Google Shape;163;g3cd5945c579_0_0"/>
          <p:cNvPicPr preferRelativeResize="0"/>
          <p:nvPr/>
        </p:nvPicPr>
        <p:blipFill rotWithShape="1">
          <a:blip r:embed="rId8">
            <a:alphaModFix/>
          </a:blip>
          <a:srcRect b="0" l="27006" r="32286" t="0"/>
          <a:stretch/>
        </p:blipFill>
        <p:spPr>
          <a:xfrm>
            <a:off x="7229175" y="1"/>
            <a:ext cx="4963245" cy="6858001"/>
          </a:xfrm>
          <a:custGeom>
            <a:rect b="b" l="l" r="r" t="t"/>
            <a:pathLst>
              <a:path extrusionOk="0" h="6858001" w="4963245">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cd5945c579_0_56"/>
          <p:cNvSpPr txBox="1"/>
          <p:nvPr/>
        </p:nvSpPr>
        <p:spPr>
          <a:xfrm>
            <a:off x="374775" y="649550"/>
            <a:ext cx="10323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chemeClr val="lt1"/>
                </a:solidFill>
                <a:latin typeface="Century Gothic"/>
                <a:ea typeface="Century Gothic"/>
                <a:cs typeface="Century Gothic"/>
                <a:sym typeface="Century Gothic"/>
              </a:rPr>
              <a:t>SKOL Architecture by Implementation </a:t>
            </a:r>
            <a:r>
              <a:rPr lang="en-US" sz="3000">
                <a:solidFill>
                  <a:schemeClr val="lt1"/>
                </a:solidFill>
                <a:latin typeface="Century Gothic"/>
                <a:ea typeface="Century Gothic"/>
                <a:cs typeface="Century Gothic"/>
                <a:sym typeface="Century Gothic"/>
              </a:rPr>
              <a:t>Project</a:t>
            </a:r>
            <a:r>
              <a:rPr b="0" i="0" lang="en-US" sz="3000" u="none" cap="none" strike="noStrike">
                <a:solidFill>
                  <a:schemeClr val="lt1"/>
                </a:solidFill>
                <a:latin typeface="Century Gothic"/>
                <a:ea typeface="Century Gothic"/>
                <a:cs typeface="Century Gothic"/>
                <a:sym typeface="Century Gothic"/>
              </a:rPr>
              <a:t> (1 of 2)</a:t>
            </a:r>
            <a:endParaRPr b="0" i="0" sz="3000" u="none" cap="none" strike="noStrike">
              <a:solidFill>
                <a:schemeClr val="lt1"/>
              </a:solidFill>
              <a:latin typeface="Century Gothic"/>
              <a:ea typeface="Century Gothic"/>
              <a:cs typeface="Century Gothic"/>
              <a:sym typeface="Century Gothic"/>
            </a:endParaRPr>
          </a:p>
        </p:txBody>
      </p:sp>
      <p:pic>
        <p:nvPicPr>
          <p:cNvPr id="170" name="Google Shape;170;g3cd5945c579_0_56" title="skol_architecture_by_subproject_left.png"/>
          <p:cNvPicPr preferRelativeResize="0"/>
          <p:nvPr/>
        </p:nvPicPr>
        <p:blipFill>
          <a:blip r:embed="rId3">
            <a:alphaModFix/>
          </a:blip>
          <a:stretch>
            <a:fillRect/>
          </a:stretch>
        </p:blipFill>
        <p:spPr>
          <a:xfrm>
            <a:off x="152400" y="2145600"/>
            <a:ext cx="11887200" cy="278450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cd5945c579_0_60"/>
          <p:cNvSpPr txBox="1"/>
          <p:nvPr/>
        </p:nvSpPr>
        <p:spPr>
          <a:xfrm>
            <a:off x="604725" y="389100"/>
            <a:ext cx="10280700" cy="87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chemeClr val="lt1"/>
                </a:solidFill>
                <a:latin typeface="Century Gothic"/>
                <a:ea typeface="Century Gothic"/>
                <a:cs typeface="Century Gothic"/>
                <a:sym typeface="Century Gothic"/>
              </a:rPr>
              <a:t>SKOL Architecture by Implementation </a:t>
            </a:r>
            <a:r>
              <a:rPr lang="en-US" sz="3000">
                <a:solidFill>
                  <a:schemeClr val="lt1"/>
                </a:solidFill>
                <a:latin typeface="Century Gothic"/>
                <a:ea typeface="Century Gothic"/>
                <a:cs typeface="Century Gothic"/>
                <a:sym typeface="Century Gothic"/>
              </a:rPr>
              <a:t>Project</a:t>
            </a:r>
            <a:r>
              <a:rPr b="0" i="0" lang="en-US" sz="3000" u="none" cap="none" strike="noStrike">
                <a:solidFill>
                  <a:schemeClr val="lt1"/>
                </a:solidFill>
                <a:latin typeface="Century Gothic"/>
                <a:ea typeface="Century Gothic"/>
                <a:cs typeface="Century Gothic"/>
                <a:sym typeface="Century Gothic"/>
              </a:rPr>
              <a:t> (2 of 2)</a:t>
            </a:r>
            <a:endParaRPr b="0" i="0" sz="3000" u="none" cap="none" strike="noStrike">
              <a:solidFill>
                <a:schemeClr val="lt1"/>
              </a:solidFill>
              <a:latin typeface="Century Gothic"/>
              <a:ea typeface="Century Gothic"/>
              <a:cs typeface="Century Gothic"/>
              <a:sym typeface="Century Gothic"/>
            </a:endParaRPr>
          </a:p>
        </p:txBody>
      </p:sp>
      <p:pic>
        <p:nvPicPr>
          <p:cNvPr id="177" name="Google Shape;177;g3cd5945c579_0_60" title="skol_architecture_by_subproject_right.png"/>
          <p:cNvPicPr preferRelativeResize="0"/>
          <p:nvPr/>
        </p:nvPicPr>
        <p:blipFill>
          <a:blip r:embed="rId3">
            <a:alphaModFix/>
          </a:blip>
          <a:stretch>
            <a:fillRect/>
          </a:stretch>
        </p:blipFill>
        <p:spPr>
          <a:xfrm>
            <a:off x="152400" y="1643875"/>
            <a:ext cx="11887200" cy="42017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cdd6918926_0_6"/>
          <p:cNvSpPr txBox="1"/>
          <p:nvPr/>
        </p:nvSpPr>
        <p:spPr>
          <a:xfrm>
            <a:off x="2091475" y="2269800"/>
            <a:ext cx="75066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lt1"/>
                </a:solidFill>
              </a:rPr>
              <a:t>[@2. Vibrissea filisporia (Bonord.) Korf &amp; A. Sánchez f.</a:t>
            </a:r>
            <a:endParaRPr sz="2000">
              <a:solidFill>
                <a:schemeClr val="lt1"/>
              </a:solidFill>
            </a:endParaRPr>
          </a:p>
          <a:p>
            <a:pPr indent="0" lvl="0" marL="0" rtl="0" algn="l">
              <a:spcBef>
                <a:spcPts val="0"/>
              </a:spcBef>
              <a:spcAft>
                <a:spcPts val="0"/>
              </a:spcAft>
              <a:buNone/>
            </a:pPr>
            <a:r>
              <a:rPr lang="en-US" sz="2000">
                <a:solidFill>
                  <a:schemeClr val="lt1"/>
                </a:solidFill>
              </a:rPr>
              <a:t>boudieri A. Sánchez &amp; Korf in Sánchez, J. Agric.</a:t>
            </a:r>
            <a:endParaRPr sz="2000">
              <a:solidFill>
                <a:schemeClr val="lt1"/>
              </a:solidFill>
            </a:endParaRPr>
          </a:p>
          <a:p>
            <a:pPr indent="0" lvl="0" marL="0" rtl="0" algn="l">
              <a:spcBef>
                <a:spcPts val="0"/>
              </a:spcBef>
              <a:spcAft>
                <a:spcPts val="0"/>
              </a:spcAft>
              <a:buNone/>
            </a:pPr>
            <a:r>
              <a:rPr lang="en-US" sz="2000">
                <a:solidFill>
                  <a:schemeClr val="lt1"/>
                </a:solidFill>
              </a:rPr>
              <a:t>Univ. Puerto Rico 51: 83, 1967.</a:t>
            </a:r>
            <a:endParaRPr sz="2000">
              <a:solidFill>
                <a:schemeClr val="lt1"/>
              </a:solidFill>
            </a:endParaRPr>
          </a:p>
          <a:p>
            <a:pPr indent="0" lvl="0" marL="0" rtl="0" algn="l">
              <a:spcBef>
                <a:spcPts val="0"/>
              </a:spcBef>
              <a:spcAft>
                <a:spcPts val="0"/>
              </a:spcAft>
              <a:buNone/>
            </a:pPr>
            <a:r>
              <a:rPr lang="en-US" sz="2000">
                <a:solidFill>
                  <a:schemeClr val="lt1"/>
                </a:solidFill>
              </a:rPr>
              <a:t>FIGS. 3, 4 &amp; 5.#Nomenclature*]</a:t>
            </a:r>
            <a:endParaRPr sz="2000">
              <a:solidFill>
                <a:schemeClr val="lt1"/>
              </a:solidFill>
            </a:endParaRPr>
          </a:p>
          <a:p>
            <a:pPr indent="0" lvl="0" marL="0" rtl="0" algn="l">
              <a:spcBef>
                <a:spcPts val="0"/>
              </a:spcBef>
              <a:spcAft>
                <a:spcPts val="0"/>
              </a:spcAft>
              <a:buNone/>
            </a:pPr>
            <a:r>
              <a:t/>
            </a:r>
            <a:endParaRPr sz="2000">
              <a:solidFill>
                <a:schemeClr val="lt1"/>
              </a:solidFill>
            </a:endParaRPr>
          </a:p>
          <a:p>
            <a:pPr indent="0" lvl="0" marL="0" rtl="0" algn="l">
              <a:spcBef>
                <a:spcPts val="0"/>
              </a:spcBef>
              <a:spcAft>
                <a:spcPts val="0"/>
              </a:spcAft>
              <a:buNone/>
            </a:pPr>
            <a:r>
              <a:rPr lang="en-US" sz="2000">
                <a:solidFill>
                  <a:schemeClr val="lt1"/>
                </a:solidFill>
              </a:rPr>
              <a:t>[@APOTHECIA sessile, discoid, 0.75-1 mm in diameter.</a:t>
            </a:r>
            <a:endParaRPr sz="2000">
              <a:solidFill>
                <a:schemeClr val="lt1"/>
              </a:solidFill>
            </a:endParaRPr>
          </a:p>
          <a:p>
            <a:pPr indent="0" lvl="0" marL="0" rtl="0" algn="l">
              <a:spcBef>
                <a:spcPts val="0"/>
              </a:spcBef>
              <a:spcAft>
                <a:spcPts val="0"/>
              </a:spcAft>
              <a:buNone/>
            </a:pPr>
            <a:r>
              <a:rPr lang="en-US" sz="2000">
                <a:solidFill>
                  <a:schemeClr val="lt1"/>
                </a:solidFill>
              </a:rPr>
              <a:t>RECEPTACLE brown. DISC convex, buff when rehydrated.</a:t>
            </a:r>
            <a:endParaRPr sz="2000">
              <a:solidFill>
                <a:schemeClr val="lt1"/>
              </a:solidFill>
            </a:endParaRPr>
          </a:p>
          <a:p>
            <a:pPr indent="0" lvl="0" marL="0" rtl="0" algn="l">
              <a:spcBef>
                <a:spcPts val="0"/>
              </a:spcBef>
              <a:spcAft>
                <a:spcPts val="0"/>
              </a:spcAft>
              <a:buNone/>
            </a:pPr>
            <a:r>
              <a:rPr lang="en-US" sz="2000">
                <a:solidFill>
                  <a:schemeClr val="lt1"/>
                </a:solidFill>
              </a:rPr>
              <a:t>HYMENIUM making up to 3/4 of the apothecium, asci taking up</a:t>
            </a:r>
            <a:endParaRPr sz="2000">
              <a:solidFill>
                <a:schemeClr val="lt1"/>
              </a:solidFill>
            </a:endParaRPr>
          </a:p>
          <a:p>
            <a:pPr indent="0" lvl="0" marL="0" rtl="0" algn="l">
              <a:spcBef>
                <a:spcPts val="0"/>
              </a:spcBef>
              <a:spcAft>
                <a:spcPts val="0"/>
              </a:spcAft>
              <a:buNone/>
            </a:pPr>
            <a:r>
              <a:rPr lang="en-US" sz="2000">
                <a:solidFill>
                  <a:schemeClr val="lt1"/>
                </a:solidFill>
              </a:rPr>
              <a:t>most of the height. ECTAL EXCIPULUM brown, 65.3-76.4 µm</a:t>
            </a:r>
            <a:endParaRPr sz="2000">
              <a:solidFill>
                <a:schemeClr val="lt1"/>
              </a:solidFill>
            </a:endParaRPr>
          </a:p>
          <a:p>
            <a:pPr indent="0" lvl="0" marL="0" rtl="0" algn="l">
              <a:spcBef>
                <a:spcPts val="0"/>
              </a:spcBef>
              <a:spcAft>
                <a:spcPts val="0"/>
              </a:spcAft>
              <a:buNone/>
            </a:pPr>
            <a:r>
              <a:rPr lang="en-US" sz="2000">
                <a:solidFill>
                  <a:schemeClr val="lt1"/>
                </a:solidFill>
              </a:rPr>
              <a:t>wide, of textura globulosa, with cells turning outwards#Description*]</a:t>
            </a:r>
            <a:endParaRPr sz="2000">
              <a:solidFill>
                <a:schemeClr val="lt1"/>
              </a:solidFill>
            </a:endParaRPr>
          </a:p>
          <a:p>
            <a:pPr indent="0" lvl="0" marL="0" rtl="0" algn="l">
              <a:spcBef>
                <a:spcPts val="0"/>
              </a:spcBef>
              <a:spcAft>
                <a:spcPts val="0"/>
              </a:spcAft>
              <a:buNone/>
            </a:pPr>
            <a:r>
              <a:t/>
            </a:r>
            <a:endParaRPr sz="2000">
              <a:solidFill>
                <a:schemeClr val="lt1"/>
              </a:solidFill>
            </a:endParaRPr>
          </a:p>
        </p:txBody>
      </p:sp>
      <p:sp>
        <p:nvSpPr>
          <p:cNvPr id="184" name="Google Shape;184;g3cdd6918926_0_6"/>
          <p:cNvSpPr txBox="1"/>
          <p:nvPr/>
        </p:nvSpPr>
        <p:spPr>
          <a:xfrm>
            <a:off x="2010375" y="713350"/>
            <a:ext cx="5501700" cy="8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chemeClr val="lt1"/>
                </a:solidFill>
                <a:latin typeface="Century Gothic"/>
                <a:ea typeface="Century Gothic"/>
                <a:cs typeface="Century Gothic"/>
                <a:sym typeface="Century Gothic"/>
              </a:rPr>
              <a:t>YEDDA Annotation (Classification)</a:t>
            </a:r>
            <a:endParaRPr sz="3000">
              <a:solidFill>
                <a:schemeClr val="lt1"/>
              </a:solidFill>
              <a:latin typeface="Century Gothic"/>
              <a:ea typeface="Century Gothic"/>
              <a:cs typeface="Century Gothic"/>
              <a:sym typeface="Century Gothic"/>
            </a:endParaRPr>
          </a:p>
        </p:txBody>
      </p:sp>
      <p:pic>
        <p:nvPicPr>
          <p:cNvPr id="185" name="Google Shape;185;g3cdd6918926_0_6" title="classification.png"/>
          <p:cNvPicPr preferRelativeResize="0"/>
          <p:nvPr/>
        </p:nvPicPr>
        <p:blipFill>
          <a:blip r:embed="rId3">
            <a:alphaModFix/>
          </a:blip>
          <a:stretch>
            <a:fillRect/>
          </a:stretch>
        </p:blipFill>
        <p:spPr>
          <a:xfrm>
            <a:off x="10328325" y="5871175"/>
            <a:ext cx="1600200" cy="666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g3cdd6918926_0_16" title="Embedding.png"/>
          <p:cNvPicPr preferRelativeResize="0"/>
          <p:nvPr/>
        </p:nvPicPr>
        <p:blipFill>
          <a:blip r:embed="rId3">
            <a:alphaModFix/>
          </a:blip>
          <a:stretch>
            <a:fillRect/>
          </a:stretch>
        </p:blipFill>
        <p:spPr>
          <a:xfrm>
            <a:off x="10297225" y="5884475"/>
            <a:ext cx="1466850" cy="638175"/>
          </a:xfrm>
          <a:prstGeom prst="rect">
            <a:avLst/>
          </a:prstGeom>
          <a:noFill/>
          <a:ln>
            <a:noFill/>
          </a:ln>
        </p:spPr>
      </p:pic>
      <p:pic>
        <p:nvPicPr>
          <p:cNvPr id="192" name="Google Shape;192;g3cdd6918926_0_16" title="sbert_logo.png"/>
          <p:cNvPicPr preferRelativeResize="0"/>
          <p:nvPr/>
        </p:nvPicPr>
        <p:blipFill>
          <a:blip r:embed="rId4">
            <a:alphaModFix/>
          </a:blip>
          <a:stretch>
            <a:fillRect/>
          </a:stretch>
        </p:blipFill>
        <p:spPr>
          <a:xfrm>
            <a:off x="336825" y="2615400"/>
            <a:ext cx="6973901" cy="3486950"/>
          </a:xfrm>
          <a:prstGeom prst="rect">
            <a:avLst/>
          </a:prstGeom>
          <a:noFill/>
          <a:ln>
            <a:noFill/>
          </a:ln>
        </p:spPr>
      </p:pic>
      <p:sp>
        <p:nvSpPr>
          <p:cNvPr id="193" name="Google Shape;193;g3cdd6918926_0_16"/>
          <p:cNvSpPr txBox="1"/>
          <p:nvPr/>
        </p:nvSpPr>
        <p:spPr>
          <a:xfrm>
            <a:off x="955775" y="1307100"/>
            <a:ext cx="9272700" cy="13083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b="1" lang="en-US" sz="2800">
                <a:solidFill>
                  <a:srgbClr val="1F2328"/>
                </a:solidFill>
                <a:highlight>
                  <a:srgbClr val="FFFFFF"/>
                </a:highlight>
              </a:rPr>
              <a:t>Dr Draft's state-of-the-art (SOTA) Literature Search</a:t>
            </a:r>
            <a:endParaRPr b="1" sz="2800">
              <a:solidFill>
                <a:srgbClr val="1F2328"/>
              </a:solidFill>
              <a:highlight>
                <a:srgbClr val="FFFFFF"/>
              </a:highlight>
            </a:endParaRPr>
          </a:p>
          <a:p>
            <a:pPr indent="0" lvl="0" marL="0" rtl="0" algn="l">
              <a:lnSpc>
                <a:spcPct val="115000"/>
              </a:lnSpc>
              <a:spcBef>
                <a:spcPts val="1200"/>
              </a:spcBef>
              <a:spcAft>
                <a:spcPts val="0"/>
              </a:spcAft>
              <a:buNone/>
            </a:pPr>
            <a:r>
              <a:t/>
            </a:r>
            <a:endParaRPr sz="2800">
              <a:solidFill>
                <a:srgbClr val="1F2328"/>
              </a:solidFill>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g3cdd6918926_0_12" title="Description_to_JSON.png"/>
          <p:cNvPicPr preferRelativeResize="0"/>
          <p:nvPr/>
        </p:nvPicPr>
        <p:blipFill>
          <a:blip r:embed="rId3">
            <a:alphaModFix/>
          </a:blip>
          <a:stretch>
            <a:fillRect/>
          </a:stretch>
        </p:blipFill>
        <p:spPr>
          <a:xfrm>
            <a:off x="9933300" y="5929975"/>
            <a:ext cx="2076450" cy="695325"/>
          </a:xfrm>
          <a:prstGeom prst="rect">
            <a:avLst/>
          </a:prstGeom>
          <a:noFill/>
          <a:ln>
            <a:noFill/>
          </a:ln>
        </p:spPr>
      </p:pic>
      <p:sp>
        <p:nvSpPr>
          <p:cNvPr id="200" name="Google Shape;200;g3cdd6918926_0_12"/>
          <p:cNvSpPr txBox="1"/>
          <p:nvPr/>
        </p:nvSpPr>
        <p:spPr>
          <a:xfrm>
            <a:off x="0" y="2367075"/>
            <a:ext cx="64203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lt1"/>
                </a:solidFill>
              </a:rPr>
              <a:t>Can you extract any attributes and their measurements from the</a:t>
            </a:r>
            <a:endParaRPr>
              <a:solidFill>
                <a:schemeClr val="lt1"/>
              </a:solidFill>
            </a:endParaRPr>
          </a:p>
          <a:p>
            <a:pPr indent="0" lvl="0" marL="0" rtl="0" algn="l">
              <a:spcBef>
                <a:spcPts val="0"/>
              </a:spcBef>
              <a:spcAft>
                <a:spcPts val="0"/>
              </a:spcAft>
              <a:buNone/>
            </a:pPr>
            <a:r>
              <a:rPr lang="en-US">
                <a:solidFill>
                  <a:schemeClr val="lt1"/>
                </a:solidFill>
              </a:rPr>
              <a:t>following description of an organism? Present the result as a json data</a:t>
            </a:r>
            <a:endParaRPr>
              <a:solidFill>
                <a:schemeClr val="lt1"/>
              </a:solidFill>
            </a:endParaRPr>
          </a:p>
          <a:p>
            <a:pPr indent="0" lvl="0" marL="0" rtl="0" algn="l">
              <a:spcBef>
                <a:spcPts val="0"/>
              </a:spcBef>
              <a:spcAft>
                <a:spcPts val="0"/>
              </a:spcAft>
              <a:buNone/>
            </a:pPr>
            <a:r>
              <a:rPr lang="en-US">
                <a:solidFill>
                  <a:schemeClr val="lt1"/>
                </a:solidFill>
              </a:rPr>
              <a:t>structure.</a:t>
            </a:r>
            <a:endParaRPr>
              <a:solidFill>
                <a:schemeClr val="lt1"/>
              </a:solidFill>
            </a:endParaRPr>
          </a:p>
          <a:p>
            <a:pPr indent="0" lvl="0" marL="0" rtl="0" algn="l">
              <a:spcBef>
                <a:spcPts val="0"/>
              </a:spcBef>
              <a:spcAft>
                <a:spcPts val="0"/>
              </a:spcAft>
              <a:buNone/>
            </a:pPr>
            <a:r>
              <a:rPr lang="en-US">
                <a:solidFill>
                  <a:schemeClr val="lt1"/>
                </a:solidFill>
              </a:rPr>
              <a:t>Mycelium on the substrate is medium orange-brown, septate, 3-4 µm</a:t>
            </a:r>
            <a:endParaRPr>
              <a:solidFill>
                <a:schemeClr val="lt1"/>
              </a:solidFill>
            </a:endParaRPr>
          </a:p>
          <a:p>
            <a:pPr indent="0" lvl="0" marL="0" rtl="0" algn="l">
              <a:spcBef>
                <a:spcPts val="0"/>
              </a:spcBef>
              <a:spcAft>
                <a:spcPts val="0"/>
              </a:spcAft>
              <a:buNone/>
            </a:pPr>
            <a:r>
              <a:rPr lang="en-US">
                <a:solidFill>
                  <a:schemeClr val="lt1"/>
                </a:solidFill>
              </a:rPr>
              <a:t>diam., often distinctly and coarsely rough; hyphae often run parallel to the</a:t>
            </a:r>
            <a:endParaRPr>
              <a:solidFill>
                <a:schemeClr val="lt1"/>
              </a:solidFill>
            </a:endParaRPr>
          </a:p>
          <a:p>
            <a:pPr indent="0" lvl="0" marL="0" rtl="0" algn="l">
              <a:spcBef>
                <a:spcPts val="0"/>
              </a:spcBef>
              <a:spcAft>
                <a:spcPts val="0"/>
              </a:spcAft>
              <a:buNone/>
            </a:pPr>
            <a:r>
              <a:rPr lang="en-US">
                <a:solidFill>
                  <a:schemeClr val="lt1"/>
                </a:solidFill>
              </a:rPr>
              <a:t>long axis of cells in substrate tissue but usually branch on the exterior and</a:t>
            </a:r>
            <a:endParaRPr>
              <a:solidFill>
                <a:schemeClr val="lt1"/>
              </a:solidFill>
            </a:endParaRPr>
          </a:p>
          <a:p>
            <a:pPr indent="0" lvl="0" marL="0" rtl="0" algn="l">
              <a:spcBef>
                <a:spcPts val="0"/>
              </a:spcBef>
              <a:spcAft>
                <a:spcPts val="0"/>
              </a:spcAft>
              <a:buNone/>
            </a:pPr>
            <a:r>
              <a:rPr lang="en-US">
                <a:solidFill>
                  <a:schemeClr val="lt1"/>
                </a:solidFill>
              </a:rPr>
              <a:t>appear as a non-patterned network. Sporulation units are produced as</a:t>
            </a:r>
            <a:endParaRPr>
              <a:solidFill>
                <a:schemeClr val="lt1"/>
              </a:solidFill>
            </a:endParaRPr>
          </a:p>
          <a:p>
            <a:pPr indent="0" lvl="0" marL="0" rtl="0" algn="l">
              <a:spcBef>
                <a:spcPts val="0"/>
              </a:spcBef>
              <a:spcAft>
                <a:spcPts val="0"/>
              </a:spcAft>
              <a:buNone/>
            </a:pPr>
            <a:r>
              <a:rPr lang="en-US">
                <a:solidFill>
                  <a:schemeClr val="lt1"/>
                </a:solidFill>
              </a:rPr>
              <a:t>enlarging tips of short branches, at first concolorous with surface</a:t>
            </a:r>
            <a:endParaRPr>
              <a:solidFill>
                <a:schemeClr val="lt1"/>
              </a:solidFill>
            </a:endParaRPr>
          </a:p>
          <a:p>
            <a:pPr indent="0" lvl="0" marL="0" rtl="0" algn="l">
              <a:spcBef>
                <a:spcPts val="0"/>
              </a:spcBef>
              <a:spcAft>
                <a:spcPts val="0"/>
              </a:spcAft>
              <a:buNone/>
            </a:pPr>
            <a:r>
              <a:rPr lang="en-US">
                <a:solidFill>
                  <a:schemeClr val="lt1"/>
                </a:solidFill>
              </a:rPr>
              <a:t>mycelium but soon dark orange-brown and finally black-brown and</a:t>
            </a:r>
            <a:endParaRPr>
              <a:solidFill>
                <a:schemeClr val="lt1"/>
              </a:solidFill>
            </a:endParaRPr>
          </a:p>
          <a:p>
            <a:pPr indent="0" lvl="0" marL="0" rtl="0" algn="l">
              <a:spcBef>
                <a:spcPts val="0"/>
              </a:spcBef>
              <a:spcAft>
                <a:spcPts val="0"/>
              </a:spcAft>
              <a:buNone/>
            </a:pPr>
            <a:r>
              <a:rPr lang="en-US">
                <a:solidFill>
                  <a:schemeClr val="lt1"/>
                </a:solidFill>
              </a:rPr>
              <a:t>opaque. In type material an occasional enlarging branch can be seen</a:t>
            </a:r>
            <a:endParaRPr>
              <a:solidFill>
                <a:schemeClr val="lt1"/>
              </a:solidFill>
            </a:endParaRPr>
          </a:p>
          <a:p>
            <a:pPr indent="0" lvl="0" marL="0" rtl="0" algn="l">
              <a:spcBef>
                <a:spcPts val="0"/>
              </a:spcBef>
              <a:spcAft>
                <a:spcPts val="0"/>
              </a:spcAft>
              <a:buNone/>
            </a:pPr>
            <a:r>
              <a:rPr lang="en-US">
                <a:solidFill>
                  <a:schemeClr val="lt1"/>
                </a:solidFill>
              </a:rPr>
              <a:t>attached to the hypha from which it developed; in most instances,</a:t>
            </a:r>
            <a:endParaRPr>
              <a:solidFill>
                <a:schemeClr val="lt1"/>
              </a:solidFill>
            </a:endParaRPr>
          </a:p>
          <a:p>
            <a:pPr indent="0" lvl="0" marL="0" rtl="0" algn="l">
              <a:spcBef>
                <a:spcPts val="0"/>
              </a:spcBef>
              <a:spcAft>
                <a:spcPts val="0"/>
              </a:spcAft>
              <a:buNone/>
            </a:pPr>
            <a:r>
              <a:rPr lang="en-US">
                <a:solidFill>
                  <a:schemeClr val="lt1"/>
                </a:solidFill>
              </a:rPr>
              <a:t>however, the enlarged branch elements have broken loose from the</a:t>
            </a:r>
            <a:endParaRPr>
              <a:solidFill>
                <a:schemeClr val="lt1"/>
              </a:solidFill>
            </a:endParaRPr>
          </a:p>
          <a:p>
            <a:pPr indent="0" lvl="0" marL="0" rtl="0" algn="l">
              <a:spcBef>
                <a:spcPts val="0"/>
              </a:spcBef>
              <a:spcAft>
                <a:spcPts val="0"/>
              </a:spcAft>
              <a:buNone/>
            </a:pPr>
            <a:r>
              <a:rPr lang="en-US">
                <a:solidFill>
                  <a:schemeClr val="lt1"/>
                </a:solidFill>
              </a:rPr>
              <a:t>mycelium or are so densely crowded on the substrate and so nearly opaque</a:t>
            </a:r>
            <a:endParaRPr>
              <a:solidFill>
                <a:schemeClr val="lt1"/>
              </a:solidFill>
            </a:endParaRPr>
          </a:p>
          <a:p>
            <a:pPr indent="0" lvl="0" marL="0" rtl="0" algn="l">
              <a:spcBef>
                <a:spcPts val="0"/>
              </a:spcBef>
              <a:spcAft>
                <a:spcPts val="0"/>
              </a:spcAft>
              <a:buNone/>
            </a:pPr>
            <a:r>
              <a:rPr lang="en-US">
                <a:solidFill>
                  <a:schemeClr val="lt1"/>
                </a:solidFill>
              </a:rPr>
              <a:t>that points of attachment cannot be traced</a:t>
            </a:r>
            <a:endParaRPr>
              <a:solidFill>
                <a:schemeClr val="lt1"/>
              </a:solidFill>
            </a:endParaRPr>
          </a:p>
        </p:txBody>
      </p:sp>
      <p:sp>
        <p:nvSpPr>
          <p:cNvPr id="201" name="Google Shape;201;g3cdd6918926_0_12"/>
          <p:cNvSpPr txBox="1"/>
          <p:nvPr/>
        </p:nvSpPr>
        <p:spPr>
          <a:xfrm>
            <a:off x="5869025" y="470100"/>
            <a:ext cx="5771700" cy="638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solidFill>
                  <a:schemeClr val="lt1"/>
                </a:solidFill>
              </a:rPr>
              <a:t>{</a:t>
            </a:r>
            <a:endParaRPr sz="1300">
              <a:solidFill>
                <a:schemeClr val="lt1"/>
              </a:solidFill>
            </a:endParaRPr>
          </a:p>
          <a:p>
            <a:pPr indent="0" lvl="0" marL="0" rtl="0" algn="l">
              <a:spcBef>
                <a:spcPts val="0"/>
              </a:spcBef>
              <a:spcAft>
                <a:spcPts val="0"/>
              </a:spcAft>
              <a:buNone/>
            </a:pPr>
            <a:r>
              <a:rPr lang="en-US" sz="1300">
                <a:solidFill>
                  <a:schemeClr val="lt1"/>
                </a:solidFill>
              </a:rPr>
              <a:t>    "mycelium": {</a:t>
            </a:r>
            <a:endParaRPr sz="1300">
              <a:solidFill>
                <a:schemeClr val="lt1"/>
              </a:solidFill>
            </a:endParaRPr>
          </a:p>
          <a:p>
            <a:pPr indent="0" lvl="0" marL="0" rtl="0" algn="l">
              <a:spcBef>
                <a:spcPts val="0"/>
              </a:spcBef>
              <a:spcAft>
                <a:spcPts val="0"/>
              </a:spcAft>
              <a:buNone/>
            </a:pPr>
            <a:r>
              <a:rPr lang="en-US" sz="1300">
                <a:solidFill>
                  <a:schemeClr val="lt1"/>
                </a:solidFill>
              </a:rPr>
              <a:t>         "location": "on substrate",</a:t>
            </a:r>
            <a:endParaRPr sz="1300">
              <a:solidFill>
                <a:schemeClr val="lt1"/>
              </a:solidFill>
            </a:endParaRPr>
          </a:p>
          <a:p>
            <a:pPr indent="0" lvl="0" marL="0" rtl="0" algn="l">
              <a:spcBef>
                <a:spcPts val="0"/>
              </a:spcBef>
              <a:spcAft>
                <a:spcPts val="0"/>
              </a:spcAft>
              <a:buNone/>
            </a:pPr>
            <a:r>
              <a:rPr lang="en-US" sz="1300">
                <a:solidFill>
                  <a:schemeClr val="lt1"/>
                </a:solidFill>
              </a:rPr>
              <a:t>         "color": "medium orange-brown"</a:t>
            </a:r>
            <a:endParaRPr sz="1300">
              <a:solidFill>
                <a:schemeClr val="lt1"/>
              </a:solidFill>
            </a:endParaRPr>
          </a:p>
          <a:p>
            <a:pPr indent="0" lvl="0" marL="0" rtl="0" algn="l">
              <a:spcBef>
                <a:spcPts val="0"/>
              </a:spcBef>
              <a:spcAft>
                <a:spcPts val="0"/>
              </a:spcAft>
              <a:buNone/>
            </a:pPr>
            <a:r>
              <a:rPr lang="en-US" sz="1300">
                <a:solidFill>
                  <a:schemeClr val="lt1"/>
                </a:solidFill>
              </a:rPr>
              <a:t>    },</a:t>
            </a:r>
            <a:endParaRPr sz="1300">
              <a:solidFill>
                <a:schemeClr val="lt1"/>
              </a:solidFill>
            </a:endParaRPr>
          </a:p>
          <a:p>
            <a:pPr indent="0" lvl="0" marL="0" rtl="0" algn="l">
              <a:spcBef>
                <a:spcPts val="0"/>
              </a:spcBef>
              <a:spcAft>
                <a:spcPts val="0"/>
              </a:spcAft>
              <a:buNone/>
            </a:pPr>
            <a:r>
              <a:rPr lang="en-US" sz="1300">
                <a:solidFill>
                  <a:schemeClr val="lt1"/>
                </a:solidFill>
              </a:rPr>
              <a:t>    "hyphae": {</a:t>
            </a:r>
            <a:endParaRPr sz="1300">
              <a:solidFill>
                <a:schemeClr val="lt1"/>
              </a:solidFill>
            </a:endParaRPr>
          </a:p>
          <a:p>
            <a:pPr indent="0" lvl="0" marL="0" rtl="0" algn="l">
              <a:spcBef>
                <a:spcPts val="0"/>
              </a:spcBef>
              <a:spcAft>
                <a:spcPts val="0"/>
              </a:spcAft>
              <a:buNone/>
            </a:pPr>
            <a:r>
              <a:rPr lang="en-US" sz="1300">
                <a:solidFill>
                  <a:schemeClr val="lt1"/>
                </a:solidFill>
              </a:rPr>
              <a:t>         "septate": true,</a:t>
            </a:r>
            <a:endParaRPr sz="1300">
              <a:solidFill>
                <a:schemeClr val="lt1"/>
              </a:solidFill>
            </a:endParaRPr>
          </a:p>
          <a:p>
            <a:pPr indent="0" lvl="0" marL="0" rtl="0" algn="l">
              <a:spcBef>
                <a:spcPts val="0"/>
              </a:spcBef>
              <a:spcAft>
                <a:spcPts val="0"/>
              </a:spcAft>
              <a:buNone/>
            </a:pPr>
            <a:r>
              <a:rPr lang="en-US" sz="1300">
                <a:solidFill>
                  <a:schemeClr val="lt1"/>
                </a:solidFill>
              </a:rPr>
              <a:t>         "diameter_um": {</a:t>
            </a:r>
            <a:endParaRPr sz="1300">
              <a:solidFill>
                <a:schemeClr val="lt1"/>
              </a:solidFill>
            </a:endParaRPr>
          </a:p>
          <a:p>
            <a:pPr indent="0" lvl="0" marL="0" rtl="0" algn="l">
              <a:spcBef>
                <a:spcPts val="0"/>
              </a:spcBef>
              <a:spcAft>
                <a:spcPts val="0"/>
              </a:spcAft>
              <a:buNone/>
            </a:pPr>
            <a:r>
              <a:rPr lang="en-US" sz="1300">
                <a:solidFill>
                  <a:schemeClr val="lt1"/>
                </a:solidFill>
              </a:rPr>
              <a:t>              "min": 3,</a:t>
            </a:r>
            <a:endParaRPr sz="1300">
              <a:solidFill>
                <a:schemeClr val="lt1"/>
              </a:solidFill>
            </a:endParaRPr>
          </a:p>
          <a:p>
            <a:pPr indent="0" lvl="0" marL="0" rtl="0" algn="l">
              <a:spcBef>
                <a:spcPts val="0"/>
              </a:spcBef>
              <a:spcAft>
                <a:spcPts val="0"/>
              </a:spcAft>
              <a:buNone/>
            </a:pPr>
            <a:r>
              <a:rPr lang="en-US" sz="1300">
                <a:solidFill>
                  <a:schemeClr val="lt1"/>
                </a:solidFill>
              </a:rPr>
              <a:t>              "max": 4</a:t>
            </a:r>
            <a:endParaRPr sz="1300">
              <a:solidFill>
                <a:schemeClr val="lt1"/>
              </a:solidFill>
            </a:endParaRPr>
          </a:p>
          <a:p>
            <a:pPr indent="0" lvl="0" marL="0" rtl="0" algn="l">
              <a:spcBef>
                <a:spcPts val="0"/>
              </a:spcBef>
              <a:spcAft>
                <a:spcPts val="0"/>
              </a:spcAft>
              <a:buNone/>
            </a:pPr>
            <a:r>
              <a:rPr lang="en-US" sz="1300">
                <a:solidFill>
                  <a:schemeClr val="lt1"/>
                </a:solidFill>
              </a:rPr>
              <a:t>         },</a:t>
            </a:r>
            <a:endParaRPr sz="1300">
              <a:solidFill>
                <a:schemeClr val="lt1"/>
              </a:solidFill>
            </a:endParaRPr>
          </a:p>
          <a:p>
            <a:pPr indent="0" lvl="0" marL="0" rtl="0" algn="l">
              <a:spcBef>
                <a:spcPts val="0"/>
              </a:spcBef>
              <a:spcAft>
                <a:spcPts val="0"/>
              </a:spcAft>
              <a:buNone/>
            </a:pPr>
            <a:r>
              <a:rPr lang="en-US" sz="1300">
                <a:solidFill>
                  <a:schemeClr val="lt1"/>
                </a:solidFill>
              </a:rPr>
              <a:t>        "surface": "distinctly and coarsely rough",</a:t>
            </a:r>
            <a:endParaRPr sz="1300">
              <a:solidFill>
                <a:schemeClr val="lt1"/>
              </a:solidFill>
            </a:endParaRPr>
          </a:p>
          <a:p>
            <a:pPr indent="0" lvl="0" marL="0" rtl="0" algn="l">
              <a:spcBef>
                <a:spcPts val="0"/>
              </a:spcBef>
              <a:spcAft>
                <a:spcPts val="0"/>
              </a:spcAft>
              <a:buNone/>
            </a:pPr>
            <a:r>
              <a:rPr lang="en-US" sz="1300">
                <a:solidFill>
                  <a:schemeClr val="lt1"/>
                </a:solidFill>
              </a:rPr>
              <a:t>        "orientation": "parallel to long axis of substrate tissue cells",</a:t>
            </a:r>
            <a:endParaRPr sz="1300">
              <a:solidFill>
                <a:schemeClr val="lt1"/>
              </a:solidFill>
            </a:endParaRPr>
          </a:p>
          <a:p>
            <a:pPr indent="0" lvl="0" marL="0" rtl="0" algn="l">
              <a:spcBef>
                <a:spcPts val="0"/>
              </a:spcBef>
              <a:spcAft>
                <a:spcPts val="0"/>
              </a:spcAft>
              <a:buNone/>
            </a:pPr>
            <a:r>
              <a:rPr lang="en-US" sz="1300">
                <a:solidFill>
                  <a:schemeClr val="lt1"/>
                </a:solidFill>
              </a:rPr>
              <a:t>        "branching": {</a:t>
            </a:r>
            <a:endParaRPr sz="1300">
              <a:solidFill>
                <a:schemeClr val="lt1"/>
              </a:solidFill>
            </a:endParaRPr>
          </a:p>
          <a:p>
            <a:pPr indent="0" lvl="0" marL="0" rtl="0" algn="l">
              <a:spcBef>
                <a:spcPts val="0"/>
              </a:spcBef>
              <a:spcAft>
                <a:spcPts val="0"/>
              </a:spcAft>
              <a:buNone/>
            </a:pPr>
            <a:r>
              <a:rPr lang="en-US" sz="1300">
                <a:solidFill>
                  <a:schemeClr val="lt1"/>
                </a:solidFill>
              </a:rPr>
              <a:t>            "location": "on exterior",</a:t>
            </a:r>
            <a:endParaRPr sz="1300">
              <a:solidFill>
                <a:schemeClr val="lt1"/>
              </a:solidFill>
            </a:endParaRPr>
          </a:p>
          <a:p>
            <a:pPr indent="0" lvl="0" marL="0" rtl="0" algn="l">
              <a:spcBef>
                <a:spcPts val="0"/>
              </a:spcBef>
              <a:spcAft>
                <a:spcPts val="0"/>
              </a:spcAft>
              <a:buNone/>
            </a:pPr>
            <a:r>
              <a:rPr lang="en-US" sz="1300">
                <a:solidFill>
                  <a:schemeClr val="lt1"/>
                </a:solidFill>
              </a:rPr>
              <a:t>            "pattern": "non-patterned network"</a:t>
            </a:r>
            <a:endParaRPr sz="1300">
              <a:solidFill>
                <a:schemeClr val="lt1"/>
              </a:solidFill>
            </a:endParaRPr>
          </a:p>
          <a:p>
            <a:pPr indent="0" lvl="0" marL="0" rtl="0" algn="l">
              <a:spcBef>
                <a:spcPts val="0"/>
              </a:spcBef>
              <a:spcAft>
                <a:spcPts val="0"/>
              </a:spcAft>
              <a:buNone/>
            </a:pPr>
            <a:r>
              <a:rPr lang="en-US" sz="1300">
                <a:solidFill>
                  <a:schemeClr val="lt1"/>
                </a:solidFill>
              </a:rPr>
              <a:t>        }</a:t>
            </a:r>
            <a:endParaRPr sz="1300">
              <a:solidFill>
                <a:schemeClr val="lt1"/>
              </a:solidFill>
            </a:endParaRPr>
          </a:p>
          <a:p>
            <a:pPr indent="0" lvl="0" marL="0" rtl="0" algn="l">
              <a:spcBef>
                <a:spcPts val="0"/>
              </a:spcBef>
              <a:spcAft>
                <a:spcPts val="0"/>
              </a:spcAft>
              <a:buNone/>
            </a:pPr>
            <a:r>
              <a:rPr lang="en-US" sz="1300">
                <a:solidFill>
                  <a:schemeClr val="lt1"/>
                </a:solidFill>
              </a:rPr>
              <a:t>    },</a:t>
            </a:r>
            <a:endParaRPr sz="1300">
              <a:solidFill>
                <a:schemeClr val="lt1"/>
              </a:solidFill>
            </a:endParaRPr>
          </a:p>
          <a:p>
            <a:pPr indent="0" lvl="0" marL="0" rtl="0" algn="l">
              <a:spcBef>
                <a:spcPts val="0"/>
              </a:spcBef>
              <a:spcAft>
                <a:spcPts val="0"/>
              </a:spcAft>
              <a:buNone/>
            </a:pPr>
            <a:r>
              <a:rPr lang="en-US" sz="1300">
                <a:solidFill>
                  <a:schemeClr val="lt1"/>
                </a:solidFill>
              </a:rPr>
              <a:t>    "sporulation_units": {</a:t>
            </a:r>
            <a:endParaRPr sz="1300">
              <a:solidFill>
                <a:schemeClr val="lt1"/>
              </a:solidFill>
            </a:endParaRPr>
          </a:p>
          <a:p>
            <a:pPr indent="0" lvl="0" marL="0" rtl="0" algn="l">
              <a:spcBef>
                <a:spcPts val="0"/>
              </a:spcBef>
              <a:spcAft>
                <a:spcPts val="0"/>
              </a:spcAft>
              <a:buNone/>
            </a:pPr>
            <a:r>
              <a:rPr lang="en-US" sz="1300">
                <a:solidFill>
                  <a:schemeClr val="lt1"/>
                </a:solidFill>
              </a:rPr>
              <a:t>        "origin": "enlarging tips of short branches",</a:t>
            </a:r>
            <a:endParaRPr sz="1300">
              <a:solidFill>
                <a:schemeClr val="lt1"/>
              </a:solidFill>
            </a:endParaRPr>
          </a:p>
          <a:p>
            <a:pPr indent="0" lvl="0" marL="0" rtl="0" algn="l">
              <a:spcBef>
                <a:spcPts val="0"/>
              </a:spcBef>
              <a:spcAft>
                <a:spcPts val="0"/>
              </a:spcAft>
              <a:buNone/>
            </a:pPr>
            <a:r>
              <a:rPr lang="en-US" sz="1300">
                <a:solidFill>
                  <a:schemeClr val="lt1"/>
                </a:solidFill>
              </a:rPr>
              <a:t>        "color_progression": [</a:t>
            </a:r>
            <a:endParaRPr sz="1300">
              <a:solidFill>
                <a:schemeClr val="lt1"/>
              </a:solidFill>
            </a:endParaRPr>
          </a:p>
          <a:p>
            <a:pPr indent="0" lvl="0" marL="0" rtl="0" algn="l">
              <a:spcBef>
                <a:spcPts val="0"/>
              </a:spcBef>
              <a:spcAft>
                <a:spcPts val="0"/>
              </a:spcAft>
              <a:buNone/>
            </a:pPr>
            <a:r>
              <a:rPr lang="en-US" sz="1300">
                <a:solidFill>
                  <a:schemeClr val="lt1"/>
                </a:solidFill>
              </a:rPr>
              <a:t>             "concolorous with surface mycelium",</a:t>
            </a:r>
            <a:endParaRPr sz="1300">
              <a:solidFill>
                <a:schemeClr val="lt1"/>
              </a:solidFill>
            </a:endParaRPr>
          </a:p>
          <a:p>
            <a:pPr indent="0" lvl="0" marL="0" rtl="0" algn="l">
              <a:spcBef>
                <a:spcPts val="0"/>
              </a:spcBef>
              <a:spcAft>
                <a:spcPts val="0"/>
              </a:spcAft>
              <a:buNone/>
            </a:pPr>
            <a:r>
              <a:rPr lang="en-US" sz="1300">
                <a:solidFill>
                  <a:schemeClr val="lt1"/>
                </a:solidFill>
              </a:rPr>
              <a:t>             "dark orange-brown",</a:t>
            </a:r>
            <a:endParaRPr sz="1300">
              <a:solidFill>
                <a:schemeClr val="lt1"/>
              </a:solidFill>
            </a:endParaRPr>
          </a:p>
          <a:p>
            <a:pPr indent="0" lvl="0" marL="0" rtl="0" algn="l">
              <a:spcBef>
                <a:spcPts val="0"/>
              </a:spcBef>
              <a:spcAft>
                <a:spcPts val="0"/>
              </a:spcAft>
              <a:buNone/>
            </a:pPr>
            <a:r>
              <a:rPr lang="en-US" sz="1300">
                <a:solidFill>
                  <a:schemeClr val="lt1"/>
                </a:solidFill>
              </a:rPr>
              <a:t>             "black-brown and opaque"</a:t>
            </a:r>
            <a:endParaRPr sz="1300">
              <a:solidFill>
                <a:schemeClr val="lt1"/>
              </a:solidFill>
            </a:endParaRPr>
          </a:p>
          <a:p>
            <a:pPr indent="0" lvl="0" marL="0" rtl="0" algn="l">
              <a:spcBef>
                <a:spcPts val="0"/>
              </a:spcBef>
              <a:spcAft>
                <a:spcPts val="0"/>
              </a:spcAft>
              <a:buNone/>
            </a:pPr>
            <a:r>
              <a:rPr lang="en-US" sz="1300">
                <a:solidFill>
                  <a:schemeClr val="lt1"/>
                </a:solidFill>
              </a:rPr>
              <a:t>        ],</a:t>
            </a:r>
            <a:endParaRPr sz="1300">
              <a:solidFill>
                <a:schemeClr val="lt1"/>
              </a:solidFill>
            </a:endParaRPr>
          </a:p>
          <a:p>
            <a:pPr indent="0" lvl="0" marL="0" rtl="0" algn="l">
              <a:spcBef>
                <a:spcPts val="0"/>
              </a:spcBef>
              <a:spcAft>
                <a:spcPts val="0"/>
              </a:spcAft>
              <a:buNone/>
            </a:pPr>
            <a:r>
              <a:rPr lang="en-US" sz="1300">
                <a:solidFill>
                  <a:schemeClr val="lt1"/>
                </a:solidFill>
              </a:rPr>
              <a:t>        "attachment": {</a:t>
            </a:r>
            <a:endParaRPr sz="1300">
              <a:solidFill>
                <a:schemeClr val="lt1"/>
              </a:solidFill>
            </a:endParaRPr>
          </a:p>
          <a:p>
            <a:pPr indent="0" lvl="0" marL="0" rtl="0" algn="l">
              <a:spcBef>
                <a:spcPts val="0"/>
              </a:spcBef>
              <a:spcAft>
                <a:spcPts val="0"/>
              </a:spcAft>
              <a:buNone/>
            </a:pPr>
            <a:r>
              <a:rPr lang="en-US" sz="1300">
                <a:solidFill>
                  <a:schemeClr val="lt1"/>
                </a:solidFill>
              </a:rPr>
              <a:t>            "occasional": "attached to hypha",</a:t>
            </a:r>
            <a:endParaRPr sz="1300">
              <a:solidFill>
                <a:schemeClr val="lt1"/>
              </a:solidFill>
            </a:endParaRPr>
          </a:p>
          <a:p>
            <a:pPr indent="0" lvl="0" marL="0" rtl="0" algn="l">
              <a:spcBef>
                <a:spcPts val="0"/>
              </a:spcBef>
              <a:spcAft>
                <a:spcPts val="0"/>
              </a:spcAft>
              <a:buNone/>
            </a:pPr>
            <a:r>
              <a:rPr lang="en-US" sz="1300">
                <a:solidFill>
                  <a:schemeClr val="lt1"/>
                </a:solidFill>
              </a:rPr>
              <a:t>            "typical": "broken loose or obscured by crowding and opacity"</a:t>
            </a:r>
            <a:endParaRPr sz="1300">
              <a:solidFill>
                <a:schemeClr val="lt1"/>
              </a:solidFill>
            </a:endParaRPr>
          </a:p>
          <a:p>
            <a:pPr indent="0" lvl="0" marL="0" rtl="0" algn="l">
              <a:spcBef>
                <a:spcPts val="0"/>
              </a:spcBef>
              <a:spcAft>
                <a:spcPts val="0"/>
              </a:spcAft>
              <a:buNone/>
            </a:pPr>
            <a:r>
              <a:rPr lang="en-US" sz="1300">
                <a:solidFill>
                  <a:schemeClr val="lt1"/>
                </a:solidFill>
              </a:rPr>
              <a:t>        }</a:t>
            </a:r>
            <a:endParaRPr sz="1300">
              <a:solidFill>
                <a:schemeClr val="lt1"/>
              </a:solidFill>
            </a:endParaRPr>
          </a:p>
          <a:p>
            <a:pPr indent="0" lvl="0" marL="0" rtl="0" algn="l">
              <a:spcBef>
                <a:spcPts val="0"/>
              </a:spcBef>
              <a:spcAft>
                <a:spcPts val="0"/>
              </a:spcAft>
              <a:buNone/>
            </a:pPr>
            <a:r>
              <a:rPr lang="en-US" sz="1300">
                <a:solidFill>
                  <a:schemeClr val="lt1"/>
                </a:solidFill>
              </a:rPr>
              <a:t>    }</a:t>
            </a:r>
            <a:endParaRPr sz="1300">
              <a:solidFill>
                <a:schemeClr val="lt1"/>
              </a:solidFill>
            </a:endParaRPr>
          </a:p>
          <a:p>
            <a:pPr indent="0" lvl="0" marL="0" rtl="0" algn="l">
              <a:spcBef>
                <a:spcPts val="0"/>
              </a:spcBef>
              <a:spcAft>
                <a:spcPts val="0"/>
              </a:spcAft>
              <a:buNone/>
            </a:pPr>
            <a:r>
              <a:rPr lang="en-US" sz="1300">
                <a:solidFill>
                  <a:schemeClr val="lt1"/>
                </a:solidFill>
              </a:rPr>
              <a:t>}</a:t>
            </a:r>
            <a:endParaRPr sz="1300">
              <a:solidFill>
                <a:schemeClr val="lt1"/>
              </a:solidFill>
            </a:endParaRPr>
          </a:p>
        </p:txBody>
      </p:sp>
      <p:sp>
        <p:nvSpPr>
          <p:cNvPr id="202" name="Google Shape;202;g3cdd6918926_0_12"/>
          <p:cNvSpPr txBox="1"/>
          <p:nvPr/>
        </p:nvSpPr>
        <p:spPr>
          <a:xfrm>
            <a:off x="178350" y="178350"/>
            <a:ext cx="5106900" cy="137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chemeClr val="lt1"/>
                </a:solidFill>
                <a:latin typeface="Century Gothic"/>
                <a:ea typeface="Century Gothic"/>
                <a:cs typeface="Century Gothic"/>
                <a:sym typeface="Century Gothic"/>
              </a:rPr>
              <a:t>Description to JSON</a:t>
            </a:r>
            <a:endParaRPr sz="300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g3cdd6918926_0_24" title="Data_Storage.png"/>
          <p:cNvPicPr preferRelativeResize="0"/>
          <p:nvPr/>
        </p:nvPicPr>
        <p:blipFill>
          <a:blip r:embed="rId3">
            <a:alphaModFix/>
          </a:blip>
          <a:stretch>
            <a:fillRect/>
          </a:stretch>
        </p:blipFill>
        <p:spPr>
          <a:xfrm>
            <a:off x="10342725" y="5975450"/>
            <a:ext cx="1647825" cy="609600"/>
          </a:xfrm>
          <a:prstGeom prst="rect">
            <a:avLst/>
          </a:prstGeom>
          <a:noFill/>
          <a:ln>
            <a:noFill/>
          </a:ln>
        </p:spPr>
      </p:pic>
      <p:pic>
        <p:nvPicPr>
          <p:cNvPr id="209" name="Google Shape;209;g3cdd6918926_0_24" title="skol_architecture_by_subproject_left_grey.png"/>
          <p:cNvPicPr preferRelativeResize="0"/>
          <p:nvPr/>
        </p:nvPicPr>
        <p:blipFill>
          <a:blip r:embed="rId4">
            <a:alphaModFix/>
          </a:blip>
          <a:stretch>
            <a:fillRect/>
          </a:stretch>
        </p:blipFill>
        <p:spPr>
          <a:xfrm>
            <a:off x="152400" y="152400"/>
            <a:ext cx="11887200" cy="2784502"/>
          </a:xfrm>
          <a:prstGeom prst="rect">
            <a:avLst/>
          </a:prstGeom>
          <a:noFill/>
          <a:ln>
            <a:noFill/>
          </a:ln>
        </p:spPr>
      </p:pic>
      <p:pic>
        <p:nvPicPr>
          <p:cNvPr id="210" name="Google Shape;210;g3cdd6918926_0_24" title="skol_architecture_by_subproject_right_grey.png"/>
          <p:cNvPicPr preferRelativeResize="0"/>
          <p:nvPr/>
        </p:nvPicPr>
        <p:blipFill>
          <a:blip r:embed="rId5">
            <a:alphaModFix/>
          </a:blip>
          <a:stretch>
            <a:fillRect/>
          </a:stretch>
        </p:blipFill>
        <p:spPr>
          <a:xfrm>
            <a:off x="152400" y="3089302"/>
            <a:ext cx="10037926" cy="354806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g3d18e836f13_0_37" title="Data_Storage.png"/>
          <p:cNvPicPr preferRelativeResize="0"/>
          <p:nvPr/>
        </p:nvPicPr>
        <p:blipFill>
          <a:blip r:embed="rId3">
            <a:alphaModFix/>
          </a:blip>
          <a:stretch>
            <a:fillRect/>
          </a:stretch>
        </p:blipFill>
        <p:spPr>
          <a:xfrm>
            <a:off x="10342725" y="5975450"/>
            <a:ext cx="1647825" cy="609600"/>
          </a:xfrm>
          <a:prstGeom prst="rect">
            <a:avLst/>
          </a:prstGeom>
          <a:noFill/>
          <a:ln>
            <a:noFill/>
          </a:ln>
        </p:spPr>
      </p:pic>
      <p:pic>
        <p:nvPicPr>
          <p:cNvPr id="217" name="Google Shape;217;g3d18e836f13_0_37" title="pseudoclades.png"/>
          <p:cNvPicPr preferRelativeResize="0"/>
          <p:nvPr/>
        </p:nvPicPr>
        <p:blipFill>
          <a:blip r:embed="rId4">
            <a:alphaModFix/>
          </a:blip>
          <a:stretch>
            <a:fillRect/>
          </a:stretch>
        </p:blipFill>
        <p:spPr>
          <a:xfrm>
            <a:off x="2670400" y="152400"/>
            <a:ext cx="7477053" cy="6553200"/>
          </a:xfrm>
          <a:prstGeom prst="rect">
            <a:avLst/>
          </a:prstGeom>
          <a:noFill/>
          <a:ln>
            <a:noFill/>
          </a:ln>
        </p:spPr>
      </p:pic>
      <p:sp>
        <p:nvSpPr>
          <p:cNvPr id="218" name="Google Shape;218;g3d18e836f13_0_37"/>
          <p:cNvSpPr txBox="1"/>
          <p:nvPr/>
        </p:nvSpPr>
        <p:spPr>
          <a:xfrm>
            <a:off x="143300" y="409425"/>
            <a:ext cx="2272500" cy="25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lt1"/>
                </a:solidFill>
                <a:latin typeface="Century Gothic"/>
                <a:ea typeface="Century Gothic"/>
                <a:cs typeface="Century Gothic"/>
                <a:sym typeface="Century Gothic"/>
              </a:rPr>
              <a:t>Pseudoclades</a:t>
            </a:r>
            <a:endParaRPr sz="2400">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g3cd5945c579_0_106" title="skol_ui.png"/>
          <p:cNvPicPr preferRelativeResize="0"/>
          <p:nvPr/>
        </p:nvPicPr>
        <p:blipFill rotWithShape="1">
          <a:blip r:embed="rId3">
            <a:alphaModFix/>
          </a:blip>
          <a:srcRect b="0" l="0" r="0" t="0"/>
          <a:stretch/>
        </p:blipFill>
        <p:spPr>
          <a:xfrm>
            <a:off x="1054425" y="1134600"/>
            <a:ext cx="9162998" cy="5546025"/>
          </a:xfrm>
          <a:prstGeom prst="rect">
            <a:avLst/>
          </a:prstGeom>
          <a:noFill/>
          <a:ln>
            <a:noFill/>
          </a:ln>
        </p:spPr>
      </p:pic>
      <p:sp>
        <p:nvSpPr>
          <p:cNvPr id="225" name="Google Shape;225;g3cd5945c579_0_106"/>
          <p:cNvSpPr txBox="1"/>
          <p:nvPr/>
        </p:nvSpPr>
        <p:spPr>
          <a:xfrm>
            <a:off x="1204325" y="197600"/>
            <a:ext cx="9069000" cy="77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chemeClr val="lt1"/>
                </a:solidFill>
                <a:latin typeface="Century Gothic"/>
                <a:ea typeface="Century Gothic"/>
                <a:cs typeface="Century Gothic"/>
                <a:sym typeface="Century Gothic"/>
              </a:rPr>
              <a:t>Search Page (showing JSON Feature Tool)</a:t>
            </a:r>
            <a:endParaRPr b="0" i="0" sz="3000" u="none" cap="none" strike="noStrike">
              <a:solidFill>
                <a:schemeClr val="lt1"/>
              </a:solidFill>
              <a:latin typeface="Century Gothic"/>
              <a:ea typeface="Century Gothic"/>
              <a:cs typeface="Century Gothic"/>
              <a:sym typeface="Century Gothic"/>
            </a:endParaRPr>
          </a:p>
        </p:txBody>
      </p:sp>
      <p:pic>
        <p:nvPicPr>
          <p:cNvPr id="226" name="Google Shape;226;g3cd5945c579_0_106" title="UI_Web_Site.png"/>
          <p:cNvPicPr preferRelativeResize="0"/>
          <p:nvPr/>
        </p:nvPicPr>
        <p:blipFill>
          <a:blip r:embed="rId4">
            <a:alphaModFix/>
          </a:blip>
          <a:stretch>
            <a:fillRect/>
          </a:stretch>
        </p:blipFill>
        <p:spPr>
          <a:xfrm>
            <a:off x="10436875" y="5952450"/>
            <a:ext cx="1571625" cy="619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g3cd5945c579_0_126" title="skol_search_results.png"/>
          <p:cNvPicPr preferRelativeResize="0"/>
          <p:nvPr/>
        </p:nvPicPr>
        <p:blipFill rotWithShape="1">
          <a:blip r:embed="rId3">
            <a:alphaModFix/>
          </a:blip>
          <a:srcRect b="0" l="0" r="0" t="0"/>
          <a:stretch/>
        </p:blipFill>
        <p:spPr>
          <a:xfrm>
            <a:off x="2325902" y="951075"/>
            <a:ext cx="6849627" cy="5621076"/>
          </a:xfrm>
          <a:prstGeom prst="rect">
            <a:avLst/>
          </a:prstGeom>
          <a:noFill/>
          <a:ln>
            <a:noFill/>
          </a:ln>
        </p:spPr>
      </p:pic>
      <p:sp>
        <p:nvSpPr>
          <p:cNvPr id="233" name="Google Shape;233;g3cd5945c579_0_126"/>
          <p:cNvSpPr txBox="1"/>
          <p:nvPr/>
        </p:nvSpPr>
        <p:spPr>
          <a:xfrm>
            <a:off x="1104400" y="210100"/>
            <a:ext cx="5484000" cy="62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chemeClr val="lt1"/>
                </a:solidFill>
                <a:latin typeface="Century Gothic"/>
                <a:ea typeface="Century Gothic"/>
                <a:cs typeface="Century Gothic"/>
                <a:sym typeface="Century Gothic"/>
              </a:rPr>
              <a:t>Search Results</a:t>
            </a:r>
            <a:endParaRPr b="0" i="0" sz="3000" u="none" cap="none" strike="noStrike">
              <a:solidFill>
                <a:schemeClr val="lt1"/>
              </a:solidFill>
              <a:latin typeface="Century Gothic"/>
              <a:ea typeface="Century Gothic"/>
              <a:cs typeface="Century Gothic"/>
              <a:sym typeface="Century Gothic"/>
            </a:endParaRPr>
          </a:p>
        </p:txBody>
      </p:sp>
      <p:pic>
        <p:nvPicPr>
          <p:cNvPr id="234" name="Google Shape;234;g3cd5945c579_0_126" title="UI_Web_Site.png"/>
          <p:cNvPicPr preferRelativeResize="0"/>
          <p:nvPr/>
        </p:nvPicPr>
        <p:blipFill>
          <a:blip r:embed="rId4">
            <a:alphaModFix/>
          </a:blip>
          <a:stretch>
            <a:fillRect/>
          </a:stretch>
        </p:blipFill>
        <p:spPr>
          <a:xfrm>
            <a:off x="10436875" y="5952450"/>
            <a:ext cx="1571625" cy="619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g3cdd6918556_0_0" title="skol_vocabulary_features_tool.png"/>
          <p:cNvPicPr preferRelativeResize="0"/>
          <p:nvPr/>
        </p:nvPicPr>
        <p:blipFill rotWithShape="1">
          <a:blip r:embed="rId3">
            <a:alphaModFix/>
          </a:blip>
          <a:srcRect b="0" l="0" r="0" t="0"/>
          <a:stretch/>
        </p:blipFill>
        <p:spPr>
          <a:xfrm>
            <a:off x="3216600" y="1076325"/>
            <a:ext cx="4657725" cy="4705350"/>
          </a:xfrm>
          <a:prstGeom prst="rect">
            <a:avLst/>
          </a:prstGeom>
          <a:noFill/>
          <a:ln>
            <a:noFill/>
          </a:ln>
        </p:spPr>
      </p:pic>
      <p:sp>
        <p:nvSpPr>
          <p:cNvPr id="241" name="Google Shape;241;g3cdd6918556_0_0"/>
          <p:cNvSpPr txBox="1"/>
          <p:nvPr/>
        </p:nvSpPr>
        <p:spPr>
          <a:xfrm>
            <a:off x="1215950" y="243200"/>
            <a:ext cx="7636200" cy="53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chemeClr val="lt1"/>
                </a:solidFill>
                <a:latin typeface="Century Gothic"/>
                <a:ea typeface="Century Gothic"/>
                <a:cs typeface="Century Gothic"/>
                <a:sym typeface="Century Gothic"/>
              </a:rPr>
              <a:t>Vocabulary Feature Tool</a:t>
            </a:r>
            <a:endParaRPr b="0" i="0" sz="3000" u="none" cap="none" strike="noStrike">
              <a:solidFill>
                <a:schemeClr val="lt1"/>
              </a:solidFill>
              <a:latin typeface="Century Gothic"/>
              <a:ea typeface="Century Gothic"/>
              <a:cs typeface="Century Gothic"/>
              <a:sym typeface="Century Gothic"/>
            </a:endParaRPr>
          </a:p>
        </p:txBody>
      </p:sp>
      <p:pic>
        <p:nvPicPr>
          <p:cNvPr id="242" name="Google Shape;242;g3cdd6918556_0_0" title="UI_Web_Site.png"/>
          <p:cNvPicPr preferRelativeResize="0"/>
          <p:nvPr/>
        </p:nvPicPr>
        <p:blipFill>
          <a:blip r:embed="rId4">
            <a:alphaModFix/>
          </a:blip>
          <a:stretch>
            <a:fillRect/>
          </a:stretch>
        </p:blipFill>
        <p:spPr>
          <a:xfrm>
            <a:off x="10436875" y="5952450"/>
            <a:ext cx="1571625" cy="619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g3cd5945c579_0_130" title="skol_json_features_tool.png"/>
          <p:cNvPicPr preferRelativeResize="0"/>
          <p:nvPr/>
        </p:nvPicPr>
        <p:blipFill rotWithShape="1">
          <a:blip r:embed="rId3">
            <a:alphaModFix/>
          </a:blip>
          <a:srcRect b="0" l="0" r="0" t="0"/>
          <a:stretch/>
        </p:blipFill>
        <p:spPr>
          <a:xfrm>
            <a:off x="5259425" y="1323975"/>
            <a:ext cx="5343525" cy="5372100"/>
          </a:xfrm>
          <a:prstGeom prst="rect">
            <a:avLst/>
          </a:prstGeom>
          <a:noFill/>
          <a:ln>
            <a:noFill/>
          </a:ln>
        </p:spPr>
      </p:pic>
      <p:pic>
        <p:nvPicPr>
          <p:cNvPr id="249" name="Google Shape;249;g3cd5945c579_0_130" title="skol_text_features_tool.png"/>
          <p:cNvPicPr preferRelativeResize="0"/>
          <p:nvPr/>
        </p:nvPicPr>
        <p:blipFill rotWithShape="1">
          <a:blip r:embed="rId4">
            <a:alphaModFix/>
          </a:blip>
          <a:srcRect b="0" l="0" r="0" t="0"/>
          <a:stretch/>
        </p:blipFill>
        <p:spPr>
          <a:xfrm>
            <a:off x="103750" y="161925"/>
            <a:ext cx="4572000" cy="6534150"/>
          </a:xfrm>
          <a:prstGeom prst="rect">
            <a:avLst/>
          </a:prstGeom>
          <a:noFill/>
          <a:ln>
            <a:noFill/>
          </a:ln>
        </p:spPr>
      </p:pic>
      <p:sp>
        <p:nvSpPr>
          <p:cNvPr id="250" name="Google Shape;250;g3cd5945c579_0_130"/>
          <p:cNvSpPr txBox="1"/>
          <p:nvPr/>
        </p:nvSpPr>
        <p:spPr>
          <a:xfrm>
            <a:off x="4967900" y="243200"/>
            <a:ext cx="5343600" cy="77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chemeClr val="lt1"/>
                </a:solidFill>
                <a:latin typeface="Century Gothic"/>
                <a:ea typeface="Century Gothic"/>
                <a:cs typeface="Century Gothic"/>
                <a:sym typeface="Century Gothic"/>
              </a:rPr>
              <a:t>Text and JSON Feature tools</a:t>
            </a:r>
            <a:endParaRPr b="0" i="0" sz="3000" u="none" cap="none" strike="noStrike">
              <a:solidFill>
                <a:schemeClr val="lt1"/>
              </a:solidFill>
              <a:latin typeface="Century Gothic"/>
              <a:ea typeface="Century Gothic"/>
              <a:cs typeface="Century Gothic"/>
              <a:sym typeface="Century Gothic"/>
            </a:endParaRPr>
          </a:p>
        </p:txBody>
      </p:sp>
      <p:pic>
        <p:nvPicPr>
          <p:cNvPr id="251" name="Google Shape;251;g3cd5945c579_0_130" title="UI_Web_Site.png"/>
          <p:cNvPicPr preferRelativeResize="0"/>
          <p:nvPr/>
        </p:nvPicPr>
        <p:blipFill>
          <a:blip r:embed="rId5">
            <a:alphaModFix/>
          </a:blip>
          <a:stretch>
            <a:fillRect/>
          </a:stretch>
        </p:blipFill>
        <p:spPr>
          <a:xfrm>
            <a:off x="10436875" y="5952450"/>
            <a:ext cx="1571625" cy="619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g3cd5945c579_0_121" title="skol_metrics.png"/>
          <p:cNvPicPr preferRelativeResize="0"/>
          <p:nvPr/>
        </p:nvPicPr>
        <p:blipFill rotWithShape="1">
          <a:blip r:embed="rId3">
            <a:alphaModFix/>
          </a:blip>
          <a:srcRect b="0" l="0" r="0" t="0"/>
          <a:stretch/>
        </p:blipFill>
        <p:spPr>
          <a:xfrm>
            <a:off x="3907388" y="1459275"/>
            <a:ext cx="4377225" cy="4934175"/>
          </a:xfrm>
          <a:prstGeom prst="rect">
            <a:avLst/>
          </a:prstGeom>
          <a:noFill/>
          <a:ln>
            <a:noFill/>
          </a:ln>
        </p:spPr>
      </p:pic>
      <p:sp>
        <p:nvSpPr>
          <p:cNvPr id="258" name="Google Shape;258;g3cd5945c579_0_121"/>
          <p:cNvSpPr txBox="1"/>
          <p:nvPr/>
        </p:nvSpPr>
        <p:spPr>
          <a:xfrm>
            <a:off x="1616550" y="210100"/>
            <a:ext cx="7132800" cy="83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chemeClr val="lt1"/>
                </a:solidFill>
                <a:latin typeface="Century Gothic"/>
                <a:ea typeface="Century Gothic"/>
                <a:cs typeface="Century Gothic"/>
                <a:sym typeface="Century Gothic"/>
              </a:rPr>
              <a:t>Metrics Description Tool</a:t>
            </a:r>
            <a:endParaRPr b="0" i="0" sz="3000" u="none" cap="none" strike="noStrike">
              <a:solidFill>
                <a:schemeClr val="lt1"/>
              </a:solidFill>
              <a:latin typeface="Century Gothic"/>
              <a:ea typeface="Century Gothic"/>
              <a:cs typeface="Century Gothic"/>
              <a:sym typeface="Century Gothic"/>
            </a:endParaRPr>
          </a:p>
        </p:txBody>
      </p:sp>
      <p:pic>
        <p:nvPicPr>
          <p:cNvPr id="259" name="Google Shape;259;g3cd5945c579_0_121" title="UI_Web_Site.png"/>
          <p:cNvPicPr preferRelativeResize="0"/>
          <p:nvPr/>
        </p:nvPicPr>
        <p:blipFill>
          <a:blip r:embed="rId4">
            <a:alphaModFix/>
          </a:blip>
          <a:stretch>
            <a:fillRect/>
          </a:stretch>
        </p:blipFill>
        <p:spPr>
          <a:xfrm>
            <a:off x="10436875" y="5952450"/>
            <a:ext cx="1571625" cy="619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g3cdd6918556_0_6" title="skol_settings.png"/>
          <p:cNvPicPr preferRelativeResize="0"/>
          <p:nvPr/>
        </p:nvPicPr>
        <p:blipFill rotWithShape="1">
          <a:blip r:embed="rId3">
            <a:alphaModFix/>
          </a:blip>
          <a:srcRect b="0" l="0" r="0" t="0"/>
          <a:stretch/>
        </p:blipFill>
        <p:spPr>
          <a:xfrm>
            <a:off x="7334650" y="152400"/>
            <a:ext cx="2358932" cy="6553200"/>
          </a:xfrm>
          <a:prstGeom prst="rect">
            <a:avLst/>
          </a:prstGeom>
          <a:noFill/>
          <a:ln>
            <a:noFill/>
          </a:ln>
        </p:spPr>
      </p:pic>
      <p:sp>
        <p:nvSpPr>
          <p:cNvPr id="266" name="Google Shape;266;g3cdd6918556_0_6"/>
          <p:cNvSpPr txBox="1"/>
          <p:nvPr/>
        </p:nvSpPr>
        <p:spPr>
          <a:xfrm>
            <a:off x="1021400" y="405325"/>
            <a:ext cx="6079800" cy="85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chemeClr val="lt1"/>
                </a:solidFill>
                <a:latin typeface="Century Gothic"/>
                <a:ea typeface="Century Gothic"/>
                <a:cs typeface="Century Gothic"/>
                <a:sym typeface="Century Gothic"/>
              </a:rPr>
              <a:t>Account and Settings</a:t>
            </a:r>
            <a:endParaRPr b="0" i="0" sz="3000" u="none" cap="none" strike="noStrike">
              <a:solidFill>
                <a:schemeClr val="lt1"/>
              </a:solidFill>
              <a:latin typeface="Century Gothic"/>
              <a:ea typeface="Century Gothic"/>
              <a:cs typeface="Century Gothic"/>
              <a:sym typeface="Century Gothic"/>
            </a:endParaRPr>
          </a:p>
        </p:txBody>
      </p:sp>
      <p:pic>
        <p:nvPicPr>
          <p:cNvPr id="267" name="Google Shape;267;g3cdd6918556_0_6" title="skol_accounts.png"/>
          <p:cNvPicPr preferRelativeResize="0"/>
          <p:nvPr/>
        </p:nvPicPr>
        <p:blipFill rotWithShape="1">
          <a:blip r:embed="rId4">
            <a:alphaModFix/>
          </a:blip>
          <a:srcRect b="0" l="0" r="0" t="0"/>
          <a:stretch/>
        </p:blipFill>
        <p:spPr>
          <a:xfrm>
            <a:off x="2519475" y="1264525"/>
            <a:ext cx="3244443" cy="5288674"/>
          </a:xfrm>
          <a:prstGeom prst="rect">
            <a:avLst/>
          </a:prstGeom>
          <a:noFill/>
          <a:ln>
            <a:noFill/>
          </a:ln>
        </p:spPr>
      </p:pic>
      <p:pic>
        <p:nvPicPr>
          <p:cNvPr id="268" name="Google Shape;268;g3cdd6918556_0_6" title="UI_Web_Site.png"/>
          <p:cNvPicPr preferRelativeResize="0"/>
          <p:nvPr/>
        </p:nvPicPr>
        <p:blipFill>
          <a:blip r:embed="rId5">
            <a:alphaModFix/>
          </a:blip>
          <a:stretch>
            <a:fillRect/>
          </a:stretch>
        </p:blipFill>
        <p:spPr>
          <a:xfrm>
            <a:off x="10436875" y="5952450"/>
            <a:ext cx="1571625" cy="619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3" name="Shape 273"/>
        <p:cNvGrpSpPr/>
        <p:nvPr/>
      </p:nvGrpSpPr>
      <p:grpSpPr>
        <a:xfrm>
          <a:off x="0" y="0"/>
          <a:ext cx="0" cy="0"/>
          <a:chOff x="0" y="0"/>
          <a:chExt cx="0" cy="0"/>
        </a:xfrm>
      </p:grpSpPr>
      <p:pic>
        <p:nvPicPr>
          <p:cNvPr id="274" name="Google Shape;274;g3cd5945c579_0_79"/>
          <p:cNvPicPr preferRelativeResize="0"/>
          <p:nvPr/>
        </p:nvPicPr>
        <p:blipFill rotWithShape="1">
          <a:blip r:embed="rId4">
            <a:alphaModFix/>
          </a:blip>
          <a:srcRect b="0" l="3614" r="0" t="0"/>
          <a:stretch/>
        </p:blipFill>
        <p:spPr>
          <a:xfrm>
            <a:off x="0" y="2669685"/>
            <a:ext cx="4037011" cy="4188314"/>
          </a:xfrm>
          <a:prstGeom prst="rect">
            <a:avLst/>
          </a:prstGeom>
          <a:noFill/>
          <a:ln>
            <a:noFill/>
          </a:ln>
        </p:spPr>
      </p:pic>
      <p:pic>
        <p:nvPicPr>
          <p:cNvPr id="275" name="Google Shape;275;g3cd5945c579_0_79"/>
          <p:cNvPicPr preferRelativeResize="0"/>
          <p:nvPr/>
        </p:nvPicPr>
        <p:blipFill rotWithShape="1">
          <a:blip r:embed="rId5">
            <a:alphaModFix/>
          </a:blip>
          <a:srcRect b="0" l="35642" r="0" t="0"/>
          <a:stretch/>
        </p:blipFill>
        <p:spPr>
          <a:xfrm>
            <a:off x="0" y="2892347"/>
            <a:ext cx="1522412" cy="2365453"/>
          </a:xfrm>
          <a:prstGeom prst="rect">
            <a:avLst/>
          </a:prstGeom>
          <a:noFill/>
          <a:ln>
            <a:noFill/>
          </a:ln>
        </p:spPr>
      </p:pic>
      <p:sp>
        <p:nvSpPr>
          <p:cNvPr id="276" name="Google Shape;276;g3cd5945c579_0_79"/>
          <p:cNvSpPr/>
          <p:nvPr/>
        </p:nvSpPr>
        <p:spPr>
          <a:xfrm>
            <a:off x="8609012" y="1676400"/>
            <a:ext cx="2819400" cy="2819400"/>
          </a:xfrm>
          <a:prstGeom prst="ellipse">
            <a:avLst/>
          </a:prstGeom>
          <a:gradFill>
            <a:gsLst>
              <a:gs pos="0">
                <a:srgbClr val="4CB9C3">
                  <a:alpha val="6274"/>
                </a:srgbClr>
              </a:gs>
              <a:gs pos="36000">
                <a:srgbClr val="4CB9C3">
                  <a:alpha val="5490"/>
                </a:srgbClr>
              </a:gs>
              <a:gs pos="69000">
                <a:srgbClr val="4CB9C3">
                  <a:alpha val="0"/>
                </a:srgbClr>
              </a:gs>
              <a:gs pos="100000">
                <a:srgbClr val="4CB9C3">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pic>
        <p:nvPicPr>
          <p:cNvPr id="277" name="Google Shape;277;g3cd5945c579_0_79"/>
          <p:cNvPicPr preferRelativeResize="0"/>
          <p:nvPr/>
        </p:nvPicPr>
        <p:blipFill rotWithShape="1">
          <a:blip r:embed="rId6">
            <a:alphaModFix/>
          </a:blip>
          <a:srcRect b="0" l="0" r="0" t="28810"/>
          <a:stretch/>
        </p:blipFill>
        <p:spPr>
          <a:xfrm>
            <a:off x="7999412" y="0"/>
            <a:ext cx="1603387" cy="1141407"/>
          </a:xfrm>
          <a:prstGeom prst="rect">
            <a:avLst/>
          </a:prstGeom>
          <a:noFill/>
          <a:ln>
            <a:noFill/>
          </a:ln>
        </p:spPr>
      </p:pic>
      <p:pic>
        <p:nvPicPr>
          <p:cNvPr id="278" name="Google Shape;278;g3cd5945c579_0_79"/>
          <p:cNvPicPr preferRelativeResize="0"/>
          <p:nvPr/>
        </p:nvPicPr>
        <p:blipFill rotWithShape="1">
          <a:blip r:embed="rId7">
            <a:alphaModFix/>
          </a:blip>
          <a:srcRect b="23319" l="0" r="0" t="0"/>
          <a:stretch/>
        </p:blipFill>
        <p:spPr>
          <a:xfrm>
            <a:off x="8605878" y="6096000"/>
            <a:ext cx="993734" cy="762000"/>
          </a:xfrm>
          <a:prstGeom prst="rect">
            <a:avLst/>
          </a:prstGeom>
          <a:noFill/>
          <a:ln>
            <a:noFill/>
          </a:ln>
        </p:spPr>
      </p:pic>
      <p:sp>
        <p:nvSpPr>
          <p:cNvPr id="279" name="Google Shape;279;g3cd5945c579_0_7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80" name="Google Shape;280;g3cd5945c579_0_79"/>
          <p:cNvSpPr/>
          <p:nvPr/>
        </p:nvSpPr>
        <p:spPr>
          <a:xfrm>
            <a:off x="0" y="-165200"/>
            <a:ext cx="12192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81" name="Google Shape;281;g3cd5945c579_0_79"/>
          <p:cNvSpPr txBox="1"/>
          <p:nvPr>
            <p:ph type="ctrTitle"/>
          </p:nvPr>
        </p:nvSpPr>
        <p:spPr>
          <a:xfrm>
            <a:off x="648925" y="629275"/>
            <a:ext cx="11202600" cy="14298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rgbClr val="EBEBEB"/>
              </a:buClr>
              <a:buSzPct val="67741"/>
              <a:buFont typeface="Century Gothic"/>
              <a:buNone/>
            </a:pPr>
            <a:r>
              <a:rPr lang="en-US" sz="5580"/>
              <a:t>Future</a:t>
            </a:r>
            <a:endParaRPr sz="5280"/>
          </a:p>
          <a:p>
            <a:pPr indent="0" lvl="0" marL="0" rtl="0" algn="l">
              <a:lnSpc>
                <a:spcPct val="100000"/>
              </a:lnSpc>
              <a:spcBef>
                <a:spcPts val="0"/>
              </a:spcBef>
              <a:spcAft>
                <a:spcPts val="0"/>
              </a:spcAft>
              <a:buClr>
                <a:srgbClr val="EBEBEB"/>
              </a:buClr>
              <a:buSzPct val="58333"/>
              <a:buFont typeface="Century Gothic"/>
              <a:buNone/>
            </a:pPr>
            <a:r>
              <a:t/>
            </a:r>
            <a:endParaRPr sz="6480"/>
          </a:p>
        </p:txBody>
      </p:sp>
      <p:sp>
        <p:nvSpPr>
          <p:cNvPr id="282" name="Google Shape;282;g3cd5945c579_0_79"/>
          <p:cNvSpPr/>
          <p:nvPr/>
        </p:nvSpPr>
        <p:spPr>
          <a:xfrm>
            <a:off x="7015974" y="-1"/>
            <a:ext cx="559472" cy="3709642"/>
          </a:xfrm>
          <a:custGeom>
            <a:rect b="b" l="l" r="r" t="t"/>
            <a:pathLst>
              <a:path extrusionOk="0" h="3709642" w="55947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pic>
        <p:nvPicPr>
          <p:cNvPr id="283" name="Google Shape;283;g3cd5945c579_0_79"/>
          <p:cNvPicPr preferRelativeResize="0"/>
          <p:nvPr/>
        </p:nvPicPr>
        <p:blipFill rotWithShape="1">
          <a:blip r:embed="rId8">
            <a:alphaModFix/>
          </a:blip>
          <a:srcRect b="0" l="27006" r="32286" t="0"/>
          <a:stretch/>
        </p:blipFill>
        <p:spPr>
          <a:xfrm>
            <a:off x="7229175" y="1"/>
            <a:ext cx="4963245" cy="6858001"/>
          </a:xfrm>
          <a:custGeom>
            <a:rect b="b" l="l" r="r" t="t"/>
            <a:pathLst>
              <a:path extrusionOk="0" h="6858001" w="4963245">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a:noFill/>
          <a:ln>
            <a:noFill/>
          </a:ln>
        </p:spPr>
      </p:pic>
      <p:sp>
        <p:nvSpPr>
          <p:cNvPr id="284" name="Google Shape;284;g3cd5945c579_0_79"/>
          <p:cNvSpPr txBox="1"/>
          <p:nvPr/>
        </p:nvSpPr>
        <p:spPr>
          <a:xfrm>
            <a:off x="779600" y="1770575"/>
            <a:ext cx="6449700" cy="35094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lt1"/>
              </a:buClr>
              <a:buSzPts val="2400"/>
              <a:buFont typeface="Century Gothic"/>
              <a:buChar char="●"/>
            </a:pPr>
            <a:r>
              <a:rPr lang="en-US" sz="2400">
                <a:solidFill>
                  <a:schemeClr val="lt1"/>
                </a:solidFill>
                <a:latin typeface="Century Gothic"/>
                <a:ea typeface="Century Gothic"/>
                <a:cs typeface="Century Gothic"/>
                <a:sym typeface="Century Gothic"/>
              </a:rPr>
              <a:t>Currently in alpha-test</a:t>
            </a:r>
            <a:endParaRPr sz="2400">
              <a:solidFill>
                <a:schemeClr val="lt1"/>
              </a:solidFill>
              <a:latin typeface="Century Gothic"/>
              <a:ea typeface="Century Gothic"/>
              <a:cs typeface="Century Gothic"/>
              <a:sym typeface="Century Gothic"/>
            </a:endParaRPr>
          </a:p>
          <a:p>
            <a:pPr indent="-381000" lvl="0" marL="457200" rtl="0" algn="l">
              <a:spcBef>
                <a:spcPts val="0"/>
              </a:spcBef>
              <a:spcAft>
                <a:spcPts val="0"/>
              </a:spcAft>
              <a:buClr>
                <a:schemeClr val="lt1"/>
              </a:buClr>
              <a:buSzPts val="2400"/>
              <a:buFont typeface="Century Gothic"/>
              <a:buChar char="●"/>
            </a:pPr>
            <a:r>
              <a:rPr lang="en-US" sz="2400">
                <a:solidFill>
                  <a:schemeClr val="lt1"/>
                </a:solidFill>
                <a:latin typeface="Century Gothic"/>
                <a:ea typeface="Century Gothic"/>
                <a:cs typeface="Century Gothic"/>
                <a:sym typeface="Century Gothic"/>
              </a:rPr>
              <a:t>Data quality project, especially for older material</a:t>
            </a:r>
            <a:endParaRPr sz="2400">
              <a:solidFill>
                <a:schemeClr val="lt1"/>
              </a:solidFill>
              <a:latin typeface="Century Gothic"/>
              <a:ea typeface="Century Gothic"/>
              <a:cs typeface="Century Gothic"/>
              <a:sym typeface="Century Gothic"/>
            </a:endParaRPr>
          </a:p>
          <a:p>
            <a:pPr indent="-381000" lvl="0" marL="457200" rtl="0" algn="l">
              <a:spcBef>
                <a:spcPts val="0"/>
              </a:spcBef>
              <a:spcAft>
                <a:spcPts val="0"/>
              </a:spcAft>
              <a:buClr>
                <a:schemeClr val="lt1"/>
              </a:buClr>
              <a:buSzPts val="2400"/>
              <a:buFont typeface="Century Gothic"/>
              <a:buChar char="●"/>
            </a:pPr>
            <a:r>
              <a:rPr lang="en-US" sz="2400">
                <a:solidFill>
                  <a:schemeClr val="lt1"/>
                </a:solidFill>
                <a:latin typeface="Century Gothic"/>
                <a:ea typeface="Century Gothic"/>
                <a:cs typeface="Century Gothic"/>
                <a:sym typeface="Century Gothic"/>
              </a:rPr>
              <a:t>Glossary tools</a:t>
            </a:r>
            <a:endParaRPr sz="2400">
              <a:solidFill>
                <a:schemeClr val="lt1"/>
              </a:solidFill>
              <a:latin typeface="Century Gothic"/>
              <a:ea typeface="Century Gothic"/>
              <a:cs typeface="Century Gothic"/>
              <a:sym typeface="Century Gothic"/>
            </a:endParaRPr>
          </a:p>
          <a:p>
            <a:pPr indent="-381000" lvl="0" marL="457200" rtl="0" algn="l">
              <a:spcBef>
                <a:spcPts val="0"/>
              </a:spcBef>
              <a:spcAft>
                <a:spcPts val="0"/>
              </a:spcAft>
              <a:buClr>
                <a:schemeClr val="lt1"/>
              </a:buClr>
              <a:buSzPts val="2400"/>
              <a:buFont typeface="Century Gothic"/>
              <a:buChar char="●"/>
            </a:pPr>
            <a:r>
              <a:rPr lang="en-US" sz="2400">
                <a:solidFill>
                  <a:schemeClr val="lt1"/>
                </a:solidFill>
                <a:latin typeface="Century Gothic"/>
                <a:ea typeface="Century Gothic"/>
                <a:cs typeface="Century Gothic"/>
                <a:sym typeface="Century Gothic"/>
              </a:rPr>
              <a:t>Better multi-language support</a:t>
            </a:r>
            <a:endParaRPr sz="2400">
              <a:solidFill>
                <a:schemeClr val="lt1"/>
              </a:solidFill>
              <a:latin typeface="Century Gothic"/>
              <a:ea typeface="Century Gothic"/>
              <a:cs typeface="Century Gothic"/>
              <a:sym typeface="Century Gothic"/>
            </a:endParaRPr>
          </a:p>
          <a:p>
            <a:pPr indent="-381000" lvl="0" marL="457200" rtl="0" algn="l">
              <a:spcBef>
                <a:spcPts val="0"/>
              </a:spcBef>
              <a:spcAft>
                <a:spcPts val="0"/>
              </a:spcAft>
              <a:buClr>
                <a:schemeClr val="lt1"/>
              </a:buClr>
              <a:buSzPts val="2400"/>
              <a:buFont typeface="Century Gothic"/>
              <a:buChar char="●"/>
            </a:pPr>
            <a:r>
              <a:rPr lang="en-US" sz="2400">
                <a:solidFill>
                  <a:schemeClr val="lt1"/>
                </a:solidFill>
                <a:latin typeface="Century Gothic"/>
                <a:ea typeface="Century Gothic"/>
                <a:cs typeface="Century Gothic"/>
                <a:sym typeface="Century Gothic"/>
              </a:rPr>
              <a:t>More journals and books</a:t>
            </a:r>
            <a:endParaRPr sz="2400">
              <a:solidFill>
                <a:schemeClr val="lt1"/>
              </a:solidFill>
              <a:latin typeface="Century Gothic"/>
              <a:ea typeface="Century Gothic"/>
              <a:cs typeface="Century Gothic"/>
              <a:sym typeface="Century Gothic"/>
            </a:endParaRPr>
          </a:p>
          <a:p>
            <a:pPr indent="-381000" lvl="0" marL="457200" rtl="0" algn="l">
              <a:spcBef>
                <a:spcPts val="0"/>
              </a:spcBef>
              <a:spcAft>
                <a:spcPts val="0"/>
              </a:spcAft>
              <a:buClr>
                <a:schemeClr val="lt1"/>
              </a:buClr>
              <a:buSzPts val="2400"/>
              <a:buFont typeface="Century Gothic"/>
              <a:buChar char="●"/>
            </a:pPr>
            <a:r>
              <a:rPr lang="en-US" sz="2400">
                <a:solidFill>
                  <a:schemeClr val="lt1"/>
                </a:solidFill>
                <a:latin typeface="Century Gothic"/>
                <a:ea typeface="Century Gothic"/>
                <a:cs typeface="Century Gothic"/>
                <a:sym typeface="Century Gothic"/>
              </a:rPr>
              <a:t>Expand to other groups of organisms</a:t>
            </a:r>
            <a:endParaRPr sz="2400">
              <a:solidFill>
                <a:schemeClr val="lt1"/>
              </a:solidFill>
              <a:latin typeface="Century Gothic"/>
              <a:ea typeface="Century Gothic"/>
              <a:cs typeface="Century Gothic"/>
              <a:sym typeface="Century Gothic"/>
            </a:endParaRPr>
          </a:p>
          <a:p>
            <a:pPr indent="-381000" lvl="0" marL="457200" rtl="0" algn="l">
              <a:spcBef>
                <a:spcPts val="0"/>
              </a:spcBef>
              <a:spcAft>
                <a:spcPts val="0"/>
              </a:spcAft>
              <a:buClr>
                <a:schemeClr val="lt1"/>
              </a:buClr>
              <a:buSzPts val="2400"/>
              <a:buFont typeface="Century Gothic"/>
              <a:buChar char="●"/>
            </a:pPr>
            <a:r>
              <a:rPr lang="en-US" sz="2400">
                <a:solidFill>
                  <a:schemeClr val="lt1"/>
                </a:solidFill>
                <a:latin typeface="Century Gothic"/>
                <a:ea typeface="Century Gothic"/>
                <a:cs typeface="Century Gothic"/>
                <a:sym typeface="Century Gothic"/>
              </a:rPr>
              <a:t>See </a:t>
            </a:r>
            <a:r>
              <a:rPr lang="en-US" sz="2400" u="sng">
                <a:solidFill>
                  <a:schemeClr val="hlink"/>
                </a:solidFill>
                <a:latin typeface="Century Gothic"/>
                <a:ea typeface="Century Gothic"/>
                <a:cs typeface="Century Gothic"/>
                <a:sym typeface="Century Gothic"/>
                <a:hlinkClick r:id="rId9"/>
              </a:rPr>
              <a:t>https://trello.com/b/jUkRE6zv/skol</a:t>
            </a:r>
            <a:r>
              <a:rPr lang="en-US" sz="2400">
                <a:solidFill>
                  <a:schemeClr val="lt1"/>
                </a:solidFill>
                <a:latin typeface="Century Gothic"/>
                <a:ea typeface="Century Gothic"/>
                <a:cs typeface="Century Gothic"/>
                <a:sym typeface="Century Gothic"/>
              </a:rPr>
              <a:t> for a complete backlog.</a:t>
            </a:r>
            <a:endParaRPr sz="2400">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9" name="Shape 289"/>
        <p:cNvGrpSpPr/>
        <p:nvPr/>
      </p:nvGrpSpPr>
      <p:grpSpPr>
        <a:xfrm>
          <a:off x="0" y="0"/>
          <a:ext cx="0" cy="0"/>
          <a:chOff x="0" y="0"/>
          <a:chExt cx="0" cy="0"/>
        </a:xfrm>
      </p:grpSpPr>
      <p:pic>
        <p:nvPicPr>
          <p:cNvPr id="290" name="Google Shape;290;g3d18e836f13_0_0"/>
          <p:cNvPicPr preferRelativeResize="0"/>
          <p:nvPr/>
        </p:nvPicPr>
        <p:blipFill rotWithShape="1">
          <a:blip r:embed="rId4">
            <a:alphaModFix/>
          </a:blip>
          <a:srcRect b="0" l="3614" r="0" t="0"/>
          <a:stretch/>
        </p:blipFill>
        <p:spPr>
          <a:xfrm>
            <a:off x="0" y="2669685"/>
            <a:ext cx="4037011" cy="4188314"/>
          </a:xfrm>
          <a:prstGeom prst="rect">
            <a:avLst/>
          </a:prstGeom>
          <a:noFill/>
          <a:ln>
            <a:noFill/>
          </a:ln>
        </p:spPr>
      </p:pic>
      <p:pic>
        <p:nvPicPr>
          <p:cNvPr id="291" name="Google Shape;291;g3d18e836f13_0_0"/>
          <p:cNvPicPr preferRelativeResize="0"/>
          <p:nvPr/>
        </p:nvPicPr>
        <p:blipFill rotWithShape="1">
          <a:blip r:embed="rId5">
            <a:alphaModFix/>
          </a:blip>
          <a:srcRect b="0" l="35642" r="0" t="0"/>
          <a:stretch/>
        </p:blipFill>
        <p:spPr>
          <a:xfrm>
            <a:off x="0" y="2892347"/>
            <a:ext cx="1522412" cy="2365453"/>
          </a:xfrm>
          <a:prstGeom prst="rect">
            <a:avLst/>
          </a:prstGeom>
          <a:noFill/>
          <a:ln>
            <a:noFill/>
          </a:ln>
        </p:spPr>
      </p:pic>
      <p:sp>
        <p:nvSpPr>
          <p:cNvPr id="292" name="Google Shape;292;g3d18e836f13_0_0"/>
          <p:cNvSpPr/>
          <p:nvPr/>
        </p:nvSpPr>
        <p:spPr>
          <a:xfrm>
            <a:off x="8609012" y="1676400"/>
            <a:ext cx="2819400" cy="2819400"/>
          </a:xfrm>
          <a:prstGeom prst="ellipse">
            <a:avLst/>
          </a:prstGeom>
          <a:gradFill>
            <a:gsLst>
              <a:gs pos="0">
                <a:srgbClr val="4CB9C3">
                  <a:alpha val="6274"/>
                </a:srgbClr>
              </a:gs>
              <a:gs pos="36000">
                <a:srgbClr val="4CB9C3">
                  <a:alpha val="5490"/>
                </a:srgbClr>
              </a:gs>
              <a:gs pos="69000">
                <a:srgbClr val="4CB9C3">
                  <a:alpha val="0"/>
                </a:srgbClr>
              </a:gs>
              <a:gs pos="100000">
                <a:srgbClr val="4CB9C3">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pic>
        <p:nvPicPr>
          <p:cNvPr id="293" name="Google Shape;293;g3d18e836f13_0_0"/>
          <p:cNvPicPr preferRelativeResize="0"/>
          <p:nvPr/>
        </p:nvPicPr>
        <p:blipFill rotWithShape="1">
          <a:blip r:embed="rId6">
            <a:alphaModFix/>
          </a:blip>
          <a:srcRect b="0" l="0" r="0" t="28810"/>
          <a:stretch/>
        </p:blipFill>
        <p:spPr>
          <a:xfrm>
            <a:off x="7999412" y="0"/>
            <a:ext cx="1603387" cy="1141407"/>
          </a:xfrm>
          <a:prstGeom prst="rect">
            <a:avLst/>
          </a:prstGeom>
          <a:noFill/>
          <a:ln>
            <a:noFill/>
          </a:ln>
        </p:spPr>
      </p:pic>
      <p:pic>
        <p:nvPicPr>
          <p:cNvPr id="294" name="Google Shape;294;g3d18e836f13_0_0"/>
          <p:cNvPicPr preferRelativeResize="0"/>
          <p:nvPr/>
        </p:nvPicPr>
        <p:blipFill rotWithShape="1">
          <a:blip r:embed="rId7">
            <a:alphaModFix/>
          </a:blip>
          <a:srcRect b="23319" l="0" r="0" t="0"/>
          <a:stretch/>
        </p:blipFill>
        <p:spPr>
          <a:xfrm>
            <a:off x="8605878" y="6096000"/>
            <a:ext cx="993734" cy="762000"/>
          </a:xfrm>
          <a:prstGeom prst="rect">
            <a:avLst/>
          </a:prstGeom>
          <a:noFill/>
          <a:ln>
            <a:noFill/>
          </a:ln>
        </p:spPr>
      </p:pic>
      <p:sp>
        <p:nvSpPr>
          <p:cNvPr id="295" name="Google Shape;295;g3d18e836f13_0_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96" name="Google Shape;296;g3d18e836f13_0_0"/>
          <p:cNvSpPr/>
          <p:nvPr/>
        </p:nvSpPr>
        <p:spPr>
          <a:xfrm>
            <a:off x="0" y="-81050"/>
            <a:ext cx="12192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97" name="Google Shape;297;g3d18e836f13_0_0"/>
          <p:cNvSpPr txBox="1"/>
          <p:nvPr>
            <p:ph type="ctrTitle"/>
          </p:nvPr>
        </p:nvSpPr>
        <p:spPr>
          <a:xfrm>
            <a:off x="648925" y="629275"/>
            <a:ext cx="11202600" cy="14298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rgbClr val="EBEBEB"/>
              </a:buClr>
              <a:buSzPct val="67741"/>
              <a:buFont typeface="Century Gothic"/>
              <a:buNone/>
            </a:pPr>
            <a:r>
              <a:rPr lang="en-US" sz="5580"/>
              <a:t>Acknowlegements</a:t>
            </a:r>
            <a:endParaRPr sz="5280"/>
          </a:p>
          <a:p>
            <a:pPr indent="0" lvl="0" marL="0" rtl="0" algn="l">
              <a:lnSpc>
                <a:spcPct val="100000"/>
              </a:lnSpc>
              <a:spcBef>
                <a:spcPts val="0"/>
              </a:spcBef>
              <a:spcAft>
                <a:spcPts val="0"/>
              </a:spcAft>
              <a:buClr>
                <a:srgbClr val="EBEBEB"/>
              </a:buClr>
              <a:buSzPct val="58333"/>
              <a:buFont typeface="Century Gothic"/>
              <a:buNone/>
            </a:pPr>
            <a:r>
              <a:t/>
            </a:r>
            <a:endParaRPr sz="6480"/>
          </a:p>
        </p:txBody>
      </p:sp>
      <p:sp>
        <p:nvSpPr>
          <p:cNvPr id="298" name="Google Shape;298;g3d18e836f13_0_0"/>
          <p:cNvSpPr txBox="1"/>
          <p:nvPr>
            <p:ph idx="1" type="subTitle"/>
          </p:nvPr>
        </p:nvSpPr>
        <p:spPr>
          <a:xfrm>
            <a:off x="581850" y="2236325"/>
            <a:ext cx="6188100" cy="1989300"/>
          </a:xfrm>
          <a:prstGeom prst="rect">
            <a:avLst/>
          </a:prstGeom>
          <a:noFill/>
          <a:ln>
            <a:noFill/>
          </a:ln>
        </p:spPr>
        <p:txBody>
          <a:bodyPr anchorCtr="0" anchor="t" bIns="45700" lIns="91425" spcFirstLastPara="1" rIns="91425" wrap="square" tIns="45700">
            <a:noAutofit/>
          </a:bodyPr>
          <a:lstStyle/>
          <a:p>
            <a:pPr indent="-330200" lvl="0" marL="457200" rtl="0" algn="l">
              <a:lnSpc>
                <a:spcPct val="80000"/>
              </a:lnSpc>
              <a:spcBef>
                <a:spcPts val="0"/>
              </a:spcBef>
              <a:spcAft>
                <a:spcPts val="0"/>
              </a:spcAft>
              <a:buClr>
                <a:schemeClr val="lt1"/>
              </a:buClr>
              <a:buSzPts val="1600"/>
              <a:buFont typeface="Arial"/>
              <a:buChar char="➢"/>
            </a:pPr>
            <a:r>
              <a:rPr lang="en-US">
                <a:solidFill>
                  <a:schemeClr val="lt1"/>
                </a:solidFill>
                <a:latin typeface="Arial"/>
                <a:ea typeface="Arial"/>
                <a:cs typeface="Arial"/>
                <a:sym typeface="Arial"/>
              </a:rPr>
              <a:t>Dr. Gregory Block (Faculty advisor)</a:t>
            </a:r>
            <a:endParaRPr>
              <a:solidFill>
                <a:schemeClr val="dk1"/>
              </a:solidFill>
              <a:latin typeface="Arial"/>
              <a:ea typeface="Arial"/>
              <a:cs typeface="Arial"/>
              <a:sym typeface="Arial"/>
            </a:endParaRPr>
          </a:p>
          <a:p>
            <a:pPr indent="-330200" lvl="0" marL="457200" rtl="0" algn="l">
              <a:lnSpc>
                <a:spcPct val="80000"/>
              </a:lnSpc>
              <a:spcBef>
                <a:spcPts val="0"/>
              </a:spcBef>
              <a:spcAft>
                <a:spcPts val="0"/>
              </a:spcAft>
              <a:buClr>
                <a:schemeClr val="lt1"/>
              </a:buClr>
              <a:buSzPts val="1600"/>
              <a:buFont typeface="Arial"/>
              <a:buChar char="➢"/>
            </a:pPr>
            <a:r>
              <a:rPr lang="en-US">
                <a:solidFill>
                  <a:schemeClr val="lt1"/>
                </a:solidFill>
                <a:latin typeface="Arial"/>
                <a:ea typeface="Arial"/>
                <a:cs typeface="Arial"/>
                <a:sym typeface="Arial"/>
              </a:rPr>
              <a:t>Christopher Murphy</a:t>
            </a:r>
            <a:endParaRPr>
              <a:solidFill>
                <a:schemeClr val="dk1"/>
              </a:solidFill>
              <a:latin typeface="Arial"/>
              <a:ea typeface="Arial"/>
              <a:cs typeface="Arial"/>
              <a:sym typeface="Arial"/>
            </a:endParaRPr>
          </a:p>
          <a:p>
            <a:pPr indent="-330200" lvl="0" marL="457200" rtl="0" algn="l">
              <a:lnSpc>
                <a:spcPct val="80000"/>
              </a:lnSpc>
              <a:spcBef>
                <a:spcPts val="0"/>
              </a:spcBef>
              <a:spcAft>
                <a:spcPts val="0"/>
              </a:spcAft>
              <a:buClr>
                <a:schemeClr val="lt1"/>
              </a:buClr>
              <a:buSzPts val="1600"/>
              <a:buFont typeface="Arial"/>
              <a:buChar char="➢"/>
            </a:pPr>
            <a:r>
              <a:rPr lang="en-US">
                <a:solidFill>
                  <a:schemeClr val="lt1"/>
                </a:solidFill>
                <a:latin typeface="Arial"/>
                <a:ea typeface="Arial"/>
                <a:cs typeface="Arial"/>
                <a:sym typeface="Arial"/>
              </a:rPr>
              <a:t>Jennifer Balasi</a:t>
            </a:r>
            <a:endParaRPr>
              <a:solidFill>
                <a:schemeClr val="dk1"/>
              </a:solidFill>
              <a:latin typeface="Arial"/>
              <a:ea typeface="Arial"/>
              <a:cs typeface="Arial"/>
              <a:sym typeface="Arial"/>
            </a:endParaRPr>
          </a:p>
          <a:p>
            <a:pPr indent="-330200" lvl="0" marL="457200" rtl="0" algn="l">
              <a:lnSpc>
                <a:spcPct val="80000"/>
              </a:lnSpc>
              <a:spcBef>
                <a:spcPts val="0"/>
              </a:spcBef>
              <a:spcAft>
                <a:spcPts val="0"/>
              </a:spcAft>
              <a:buClr>
                <a:schemeClr val="lt1"/>
              </a:buClr>
              <a:buSzPts val="1600"/>
              <a:buFont typeface="Arial"/>
              <a:buChar char="➢"/>
            </a:pPr>
            <a:r>
              <a:rPr lang="en-US">
                <a:solidFill>
                  <a:schemeClr val="lt1"/>
                </a:solidFill>
                <a:latin typeface="Arial"/>
                <a:ea typeface="Arial"/>
                <a:cs typeface="Arial"/>
                <a:sym typeface="Arial"/>
              </a:rPr>
              <a:t>Shintaro Osuga</a:t>
            </a:r>
            <a:endParaRPr>
              <a:solidFill>
                <a:schemeClr val="lt1"/>
              </a:solidFill>
              <a:latin typeface="Arial"/>
              <a:ea typeface="Arial"/>
              <a:cs typeface="Arial"/>
              <a:sym typeface="Arial"/>
            </a:endParaRPr>
          </a:p>
          <a:p>
            <a:pPr indent="-330200" lvl="0" marL="457200" rtl="0" algn="l">
              <a:lnSpc>
                <a:spcPct val="80000"/>
              </a:lnSpc>
              <a:spcBef>
                <a:spcPts val="0"/>
              </a:spcBef>
              <a:spcAft>
                <a:spcPts val="0"/>
              </a:spcAft>
              <a:buClr>
                <a:schemeClr val="lt1"/>
              </a:buClr>
              <a:buSzPts val="1600"/>
              <a:buFont typeface="Arial"/>
              <a:buChar char="➢"/>
            </a:pPr>
            <a:r>
              <a:rPr lang="en-US">
                <a:solidFill>
                  <a:schemeClr val="lt1"/>
                </a:solidFill>
                <a:latin typeface="Arial"/>
                <a:ea typeface="Arial"/>
                <a:cs typeface="Arial"/>
                <a:sym typeface="Arial"/>
              </a:rPr>
              <a:t>David Caspers</a:t>
            </a:r>
            <a:endParaRPr>
              <a:solidFill>
                <a:schemeClr val="lt1"/>
              </a:solidFill>
              <a:latin typeface="Arial"/>
              <a:ea typeface="Arial"/>
              <a:cs typeface="Arial"/>
              <a:sym typeface="Arial"/>
            </a:endParaRPr>
          </a:p>
          <a:p>
            <a:pPr indent="-330200" lvl="0" marL="457200" rtl="0" algn="l">
              <a:lnSpc>
                <a:spcPct val="80000"/>
              </a:lnSpc>
              <a:spcBef>
                <a:spcPts val="0"/>
              </a:spcBef>
              <a:spcAft>
                <a:spcPts val="0"/>
              </a:spcAft>
              <a:buClr>
                <a:schemeClr val="lt1"/>
              </a:buClr>
              <a:buSzPts val="1600"/>
              <a:buFont typeface="Arial"/>
              <a:buChar char="➢"/>
            </a:pPr>
            <a:r>
              <a:rPr lang="en-US">
                <a:solidFill>
                  <a:schemeClr val="lt1"/>
                </a:solidFill>
                <a:latin typeface="Arial"/>
                <a:ea typeface="Arial"/>
                <a:cs typeface="Arial"/>
                <a:sym typeface="Arial"/>
              </a:rPr>
              <a:t>Padmaja Kurumaddali</a:t>
            </a:r>
            <a:endParaRPr>
              <a:solidFill>
                <a:schemeClr val="lt1"/>
              </a:solidFill>
              <a:latin typeface="Arial"/>
              <a:ea typeface="Arial"/>
              <a:cs typeface="Arial"/>
              <a:sym typeface="Arial"/>
            </a:endParaRPr>
          </a:p>
          <a:p>
            <a:pPr indent="-330200" lvl="0" marL="457200" rtl="0" algn="l">
              <a:lnSpc>
                <a:spcPct val="80000"/>
              </a:lnSpc>
              <a:spcBef>
                <a:spcPts val="0"/>
              </a:spcBef>
              <a:spcAft>
                <a:spcPts val="0"/>
              </a:spcAft>
              <a:buClr>
                <a:schemeClr val="lt1"/>
              </a:buClr>
              <a:buSzPts val="1600"/>
              <a:buFont typeface="Arial"/>
              <a:buChar char="➢"/>
            </a:pPr>
            <a:r>
              <a:rPr lang="en-US">
                <a:solidFill>
                  <a:schemeClr val="lt1"/>
                </a:solidFill>
                <a:latin typeface="Arial"/>
                <a:ea typeface="Arial"/>
                <a:cs typeface="Arial"/>
                <a:sym typeface="Arial"/>
              </a:rPr>
              <a:t>Patrick Le</a:t>
            </a:r>
            <a:endParaRPr>
              <a:solidFill>
                <a:schemeClr val="lt1"/>
              </a:solidFill>
              <a:latin typeface="Arial"/>
              <a:ea typeface="Arial"/>
              <a:cs typeface="Arial"/>
              <a:sym typeface="Arial"/>
            </a:endParaRPr>
          </a:p>
          <a:p>
            <a:pPr indent="0" lvl="0" marL="0" rtl="0" algn="l">
              <a:lnSpc>
                <a:spcPct val="80000"/>
              </a:lnSpc>
              <a:spcBef>
                <a:spcPts val="1000"/>
              </a:spcBef>
              <a:spcAft>
                <a:spcPts val="0"/>
              </a:spcAft>
              <a:buSzPts val="1600"/>
              <a:buNone/>
            </a:pPr>
            <a:r>
              <a:t/>
            </a:r>
            <a:endParaRPr>
              <a:solidFill>
                <a:schemeClr val="lt1"/>
              </a:solidFill>
              <a:latin typeface="Arial"/>
              <a:ea typeface="Arial"/>
              <a:cs typeface="Arial"/>
              <a:sym typeface="Arial"/>
            </a:endParaRPr>
          </a:p>
        </p:txBody>
      </p:sp>
      <p:sp>
        <p:nvSpPr>
          <p:cNvPr id="299" name="Google Shape;299;g3d18e836f13_0_0"/>
          <p:cNvSpPr/>
          <p:nvPr/>
        </p:nvSpPr>
        <p:spPr>
          <a:xfrm>
            <a:off x="7015974" y="-1"/>
            <a:ext cx="559472" cy="3709642"/>
          </a:xfrm>
          <a:custGeom>
            <a:rect b="b" l="l" r="r" t="t"/>
            <a:pathLst>
              <a:path extrusionOk="0" h="3709642" w="55947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pic>
        <p:nvPicPr>
          <p:cNvPr id="300" name="Google Shape;300;g3d18e836f13_0_0"/>
          <p:cNvPicPr preferRelativeResize="0"/>
          <p:nvPr/>
        </p:nvPicPr>
        <p:blipFill rotWithShape="1">
          <a:blip r:embed="rId8">
            <a:alphaModFix/>
          </a:blip>
          <a:srcRect b="0" l="27006" r="32286" t="0"/>
          <a:stretch/>
        </p:blipFill>
        <p:spPr>
          <a:xfrm>
            <a:off x="7229175" y="1"/>
            <a:ext cx="4963245" cy="6858001"/>
          </a:xfrm>
          <a:custGeom>
            <a:rect b="b" l="l" r="r" t="t"/>
            <a:pathLst>
              <a:path extrusionOk="0" h="6858001" w="4963245">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a:noFill/>
          <a:ln>
            <a:noFill/>
          </a:ln>
        </p:spPr>
      </p:pic>
      <p:sp>
        <p:nvSpPr>
          <p:cNvPr id="301" name="Google Shape;301;g3d18e836f13_0_0"/>
          <p:cNvSpPr txBox="1"/>
          <p:nvPr>
            <p:ph idx="1" type="subTitle"/>
          </p:nvPr>
        </p:nvSpPr>
        <p:spPr>
          <a:xfrm>
            <a:off x="648925" y="4862650"/>
            <a:ext cx="6188100" cy="1509000"/>
          </a:xfrm>
          <a:prstGeom prst="rect">
            <a:avLst/>
          </a:prstGeom>
          <a:noFill/>
          <a:ln>
            <a:noFill/>
          </a:ln>
        </p:spPr>
        <p:txBody>
          <a:bodyPr anchorCtr="0" anchor="t" bIns="45700" lIns="91425" spcFirstLastPara="1" rIns="91425" wrap="square" tIns="45700">
            <a:noAutofit/>
          </a:bodyPr>
          <a:lstStyle/>
          <a:p>
            <a:pPr indent="-330200" lvl="0" marL="457200" rtl="0" algn="l">
              <a:lnSpc>
                <a:spcPct val="80000"/>
              </a:lnSpc>
              <a:spcBef>
                <a:spcPts val="0"/>
              </a:spcBef>
              <a:spcAft>
                <a:spcPts val="0"/>
              </a:spcAft>
              <a:buClr>
                <a:schemeClr val="lt1"/>
              </a:buClr>
              <a:buSzPts val="1600"/>
              <a:buFont typeface="Arial"/>
              <a:buChar char="➢"/>
            </a:pPr>
            <a:r>
              <a:rPr lang="en-US">
                <a:solidFill>
                  <a:schemeClr val="lt1"/>
                </a:solidFill>
                <a:latin typeface="Arial"/>
                <a:ea typeface="Arial"/>
                <a:cs typeface="Arial"/>
                <a:sym typeface="Arial"/>
              </a:rPr>
              <a:t>Garrett Taylor</a:t>
            </a:r>
            <a:endParaRPr>
              <a:solidFill>
                <a:schemeClr val="lt1"/>
              </a:solidFill>
              <a:latin typeface="Arial"/>
              <a:ea typeface="Arial"/>
              <a:cs typeface="Arial"/>
              <a:sym typeface="Arial"/>
            </a:endParaRPr>
          </a:p>
          <a:p>
            <a:pPr indent="-330200" lvl="0" marL="457200" rtl="0" algn="l">
              <a:lnSpc>
                <a:spcPct val="80000"/>
              </a:lnSpc>
              <a:spcBef>
                <a:spcPts val="0"/>
              </a:spcBef>
              <a:spcAft>
                <a:spcPts val="0"/>
              </a:spcAft>
              <a:buClr>
                <a:schemeClr val="lt1"/>
              </a:buClr>
              <a:buSzPts val="1600"/>
              <a:buFont typeface="Arial"/>
              <a:buChar char="➢"/>
            </a:pPr>
            <a:r>
              <a:rPr lang="en-US">
                <a:solidFill>
                  <a:schemeClr val="lt1"/>
                </a:solidFill>
                <a:latin typeface="Arial"/>
                <a:ea typeface="Arial"/>
                <a:cs typeface="Arial"/>
                <a:sym typeface="Arial"/>
              </a:rPr>
              <a:t>Richard Jacob</a:t>
            </a:r>
            <a:endParaRPr>
              <a:solidFill>
                <a:schemeClr val="lt1"/>
              </a:solidFill>
              <a:latin typeface="Arial"/>
              <a:ea typeface="Arial"/>
              <a:cs typeface="Arial"/>
              <a:sym typeface="Arial"/>
            </a:endParaRPr>
          </a:p>
          <a:p>
            <a:pPr indent="0" lvl="0" marL="0" rtl="0" algn="l">
              <a:lnSpc>
                <a:spcPct val="80000"/>
              </a:lnSpc>
              <a:spcBef>
                <a:spcPts val="1000"/>
              </a:spcBef>
              <a:spcAft>
                <a:spcPts val="0"/>
              </a:spcAft>
              <a:buSzPts val="1600"/>
              <a:buNone/>
            </a:pPr>
            <a:r>
              <a:t/>
            </a:r>
            <a:endParaRPr>
              <a:solidFill>
                <a:schemeClr val="lt1"/>
              </a:solidFill>
              <a:latin typeface="Arial"/>
              <a:ea typeface="Arial"/>
              <a:cs typeface="Arial"/>
              <a:sym typeface="Arial"/>
            </a:endParaRPr>
          </a:p>
        </p:txBody>
      </p:sp>
      <p:sp>
        <p:nvSpPr>
          <p:cNvPr id="302" name="Google Shape;302;g3d18e836f13_0_0"/>
          <p:cNvSpPr txBox="1"/>
          <p:nvPr/>
        </p:nvSpPr>
        <p:spPr>
          <a:xfrm>
            <a:off x="779600" y="1770575"/>
            <a:ext cx="9658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Development team</a:t>
            </a:r>
            <a:endParaRPr sz="2000">
              <a:solidFill>
                <a:schemeClr val="lt1"/>
              </a:solidFill>
              <a:latin typeface="Century Gothic"/>
              <a:ea typeface="Century Gothic"/>
              <a:cs typeface="Century Gothic"/>
              <a:sym typeface="Century Gothic"/>
            </a:endParaRPr>
          </a:p>
        </p:txBody>
      </p:sp>
      <p:sp>
        <p:nvSpPr>
          <p:cNvPr id="303" name="Google Shape;303;g3d18e836f13_0_0"/>
          <p:cNvSpPr txBox="1"/>
          <p:nvPr/>
        </p:nvSpPr>
        <p:spPr>
          <a:xfrm>
            <a:off x="779600" y="4297838"/>
            <a:ext cx="9658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lt1"/>
                </a:solidFill>
                <a:latin typeface="Century Gothic"/>
                <a:ea typeface="Century Gothic"/>
                <a:cs typeface="Century Gothic"/>
                <a:sym typeface="Century Gothic"/>
              </a:rPr>
              <a:t>Alpha testers</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ce41fdc5fc_0_6"/>
          <p:cNvSpPr txBox="1"/>
          <p:nvPr/>
        </p:nvSpPr>
        <p:spPr>
          <a:xfrm>
            <a:off x="1264600" y="1297026"/>
            <a:ext cx="9419700" cy="51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lt1"/>
                </a:solidFill>
              </a:rPr>
              <a:t>These slides:</a:t>
            </a:r>
            <a:endParaRPr sz="2000">
              <a:solidFill>
                <a:schemeClr val="lt1"/>
              </a:solidFill>
            </a:endParaRPr>
          </a:p>
          <a:p>
            <a:pPr indent="0" lvl="0" marL="0" rtl="0" algn="l">
              <a:spcBef>
                <a:spcPts val="0"/>
              </a:spcBef>
              <a:spcAft>
                <a:spcPts val="0"/>
              </a:spcAft>
              <a:buNone/>
            </a:pPr>
            <a:r>
              <a:rPr lang="en-US" sz="2000" u="sng">
                <a:solidFill>
                  <a:schemeClr val="hlink"/>
                </a:solidFill>
                <a:hlinkClick r:id="rId3"/>
              </a:rPr>
              <a:t>https://tinyurl.com/ykwt8dkv</a:t>
            </a:r>
            <a:endParaRPr sz="2000">
              <a:solidFill>
                <a:schemeClr val="lt1"/>
              </a:solidFill>
            </a:endParaRPr>
          </a:p>
          <a:p>
            <a:pPr indent="0" lvl="0" marL="0" rtl="0" algn="l">
              <a:spcBef>
                <a:spcPts val="0"/>
              </a:spcBef>
              <a:spcAft>
                <a:spcPts val="0"/>
              </a:spcAft>
              <a:buNone/>
            </a:pPr>
            <a:r>
              <a:rPr lang="en-US" sz="2000">
                <a:solidFill>
                  <a:schemeClr val="lt1"/>
                </a:solidFill>
              </a:rPr>
              <a:t>The accompanying paper:</a:t>
            </a:r>
            <a:endParaRPr sz="2000">
              <a:solidFill>
                <a:schemeClr val="lt1"/>
              </a:solidFill>
            </a:endParaRPr>
          </a:p>
          <a:p>
            <a:pPr indent="0" lvl="0" marL="0" rtl="0" algn="l">
              <a:spcBef>
                <a:spcPts val="0"/>
              </a:spcBef>
              <a:spcAft>
                <a:spcPts val="0"/>
              </a:spcAft>
              <a:buNone/>
            </a:pPr>
            <a:r>
              <a:rPr lang="en-US" sz="2000" u="sng">
                <a:solidFill>
                  <a:schemeClr val="hlink"/>
                </a:solidFill>
                <a:hlinkClick r:id="rId4"/>
              </a:rPr>
              <a:t>https://tinyurl.com/54paunua</a:t>
            </a:r>
            <a:endParaRPr sz="2000">
              <a:solidFill>
                <a:schemeClr val="lt1"/>
              </a:solidFill>
            </a:endParaRPr>
          </a:p>
          <a:p>
            <a:pPr indent="0" lvl="0" marL="0" rtl="0" algn="l">
              <a:spcBef>
                <a:spcPts val="0"/>
              </a:spcBef>
              <a:spcAft>
                <a:spcPts val="0"/>
              </a:spcAft>
              <a:buNone/>
            </a:pPr>
            <a:r>
              <a:rPr lang="en-US" sz="2000">
                <a:solidFill>
                  <a:schemeClr val="lt1"/>
                </a:solidFill>
              </a:rPr>
              <a:t>The SKOL web site</a:t>
            </a:r>
            <a:r>
              <a:rPr lang="en-US" sz="2000">
                <a:solidFill>
                  <a:schemeClr val="lt1"/>
                </a:solidFill>
              </a:rPr>
              <a:t>:</a:t>
            </a:r>
            <a:endParaRPr sz="2000">
              <a:solidFill>
                <a:schemeClr val="lt1"/>
              </a:solidFill>
            </a:endParaRPr>
          </a:p>
          <a:p>
            <a:pPr indent="0" lvl="0" marL="0" rtl="0" algn="l">
              <a:spcBef>
                <a:spcPts val="0"/>
              </a:spcBef>
              <a:spcAft>
                <a:spcPts val="0"/>
              </a:spcAft>
              <a:buNone/>
            </a:pPr>
            <a:r>
              <a:rPr lang="en-US" sz="2000" u="sng">
                <a:solidFill>
                  <a:schemeClr val="hlink"/>
                </a:solidFill>
                <a:hlinkClick r:id="rId5"/>
              </a:rPr>
              <a:t>https://synoptickeyof.life/skol</a:t>
            </a:r>
            <a:endParaRPr sz="2000">
              <a:solidFill>
                <a:schemeClr val="lt1"/>
              </a:solidFill>
            </a:endParaRPr>
          </a:p>
          <a:p>
            <a:pPr indent="0" lvl="0" marL="0" rtl="0" algn="l">
              <a:spcBef>
                <a:spcPts val="0"/>
              </a:spcBef>
              <a:spcAft>
                <a:spcPts val="0"/>
              </a:spcAft>
              <a:buNone/>
            </a:pPr>
            <a:r>
              <a:rPr lang="en-US" sz="2000">
                <a:solidFill>
                  <a:schemeClr val="lt1"/>
                </a:solidFill>
              </a:rPr>
              <a:t>The SKOL source code:</a:t>
            </a:r>
            <a:endParaRPr sz="2000">
              <a:solidFill>
                <a:schemeClr val="lt1"/>
              </a:solidFill>
            </a:endParaRPr>
          </a:p>
          <a:p>
            <a:pPr indent="0" lvl="0" marL="0" rtl="0" algn="l">
              <a:spcBef>
                <a:spcPts val="0"/>
              </a:spcBef>
              <a:spcAft>
                <a:spcPts val="0"/>
              </a:spcAft>
              <a:buNone/>
            </a:pPr>
            <a:r>
              <a:rPr lang="en-US" sz="2000" u="sng">
                <a:solidFill>
                  <a:schemeClr val="hlink"/>
                </a:solidFill>
                <a:hlinkClick r:id="rId6"/>
              </a:rPr>
              <a:t>https://github.com/piggyatbaqaqi/skol</a:t>
            </a:r>
            <a:endParaRPr sz="2000">
              <a:solidFill>
                <a:schemeClr val="lt1"/>
              </a:solidFill>
            </a:endParaRPr>
          </a:p>
          <a:p>
            <a:pPr indent="0" lvl="0" marL="0" rtl="0" algn="l">
              <a:spcBef>
                <a:spcPts val="0"/>
              </a:spcBef>
              <a:spcAft>
                <a:spcPts val="0"/>
              </a:spcAft>
              <a:buNone/>
            </a:pPr>
            <a:r>
              <a:rPr lang="en-US" sz="2000">
                <a:solidFill>
                  <a:schemeClr val="lt1"/>
                </a:solidFill>
              </a:rPr>
              <a:t>Dr Draft's state-of-the-art (SOTA) Literature Search</a:t>
            </a:r>
            <a:endParaRPr sz="2000">
              <a:solidFill>
                <a:schemeClr val="lt1"/>
              </a:solidFill>
            </a:endParaRPr>
          </a:p>
          <a:p>
            <a:pPr indent="0" lvl="0" marL="0" rtl="0" algn="l">
              <a:spcBef>
                <a:spcPts val="0"/>
              </a:spcBef>
              <a:spcAft>
                <a:spcPts val="0"/>
              </a:spcAft>
              <a:buNone/>
            </a:pPr>
            <a:r>
              <a:rPr lang="en-US" sz="1700" u="sng">
                <a:solidFill>
                  <a:schemeClr val="hlink"/>
                </a:solidFill>
                <a:hlinkClick r:id="rId7"/>
              </a:rPr>
              <a:t>https://github.com/autonlab/dr-drafts-sota-literature-search</a:t>
            </a:r>
            <a:endParaRPr sz="1700">
              <a:solidFill>
                <a:schemeClr val="lt1"/>
              </a:solidFill>
            </a:endParaRPr>
          </a:p>
          <a:p>
            <a:pPr indent="0" lvl="0" marL="0" rtl="0" algn="l">
              <a:spcBef>
                <a:spcPts val="0"/>
              </a:spcBef>
              <a:spcAft>
                <a:spcPts val="0"/>
              </a:spcAft>
              <a:buNone/>
            </a:pPr>
            <a:r>
              <a:rPr lang="en-US" sz="1700">
                <a:solidFill>
                  <a:schemeClr val="lt1"/>
                </a:solidFill>
              </a:rPr>
              <a:t>SKOL fork of Dr Draft’s:</a:t>
            </a:r>
            <a:endParaRPr sz="1700">
              <a:solidFill>
                <a:schemeClr val="lt1"/>
              </a:solidFill>
            </a:endParaRPr>
          </a:p>
          <a:p>
            <a:pPr indent="0" lvl="0" marL="0" rtl="0" algn="l">
              <a:spcBef>
                <a:spcPts val="0"/>
              </a:spcBef>
              <a:spcAft>
                <a:spcPts val="0"/>
              </a:spcAft>
              <a:buNone/>
            </a:pPr>
            <a:r>
              <a:rPr lang="en-US" sz="1700" u="sng">
                <a:solidFill>
                  <a:schemeClr val="hlink"/>
                </a:solidFill>
                <a:hlinkClick r:id="rId8"/>
              </a:rPr>
              <a:t>https://github.com/piggyatbaqaqi/dr-drafts-mycosearch</a:t>
            </a:r>
            <a:endParaRPr sz="1700">
              <a:solidFill>
                <a:schemeClr val="lt1"/>
              </a:solidFill>
            </a:endParaRPr>
          </a:p>
          <a:p>
            <a:pPr indent="0" lvl="0" marL="0" rtl="0" algn="l">
              <a:spcBef>
                <a:spcPts val="0"/>
              </a:spcBef>
              <a:spcAft>
                <a:spcPts val="0"/>
              </a:spcAft>
              <a:buClr>
                <a:schemeClr val="dk1"/>
              </a:buClr>
              <a:buSzPts val="1100"/>
              <a:buFont typeface="Arial"/>
              <a:buNone/>
            </a:pPr>
            <a:r>
              <a:rPr lang="en-US" sz="1800">
                <a:solidFill>
                  <a:schemeClr val="lt1"/>
                </a:solidFill>
                <a:latin typeface="Century Gothic"/>
                <a:ea typeface="Century Gothic"/>
                <a:cs typeface="Century Gothic"/>
                <a:sym typeface="Century Gothic"/>
              </a:rPr>
              <a:t>A </a:t>
            </a:r>
            <a:r>
              <a:rPr lang="en-US" sz="1800">
                <a:solidFill>
                  <a:schemeClr val="lt1"/>
                </a:solidFill>
                <a:latin typeface="Century Gothic"/>
                <a:ea typeface="Century Gothic"/>
                <a:cs typeface="Century Gothic"/>
                <a:sym typeface="Century Gothic"/>
              </a:rPr>
              <a:t>complete summary of technologies integrated:</a:t>
            </a:r>
            <a:endParaRPr sz="1700">
              <a:solidFill>
                <a:schemeClr val="lt1"/>
              </a:solidFill>
            </a:endParaRPr>
          </a:p>
          <a:p>
            <a:pPr indent="0" lvl="0" marL="0" rtl="0" algn="l">
              <a:spcBef>
                <a:spcPts val="0"/>
              </a:spcBef>
              <a:spcAft>
                <a:spcPts val="0"/>
              </a:spcAft>
              <a:buClr>
                <a:schemeClr val="dk1"/>
              </a:buClr>
              <a:buSzPts val="1100"/>
              <a:buFont typeface="Arial"/>
              <a:buNone/>
            </a:pPr>
            <a:r>
              <a:rPr lang="en-US" sz="1800" u="sng">
                <a:solidFill>
                  <a:schemeClr val="hlink"/>
                </a:solidFill>
                <a:latin typeface="Century Gothic"/>
                <a:ea typeface="Century Gothic"/>
                <a:cs typeface="Century Gothic"/>
                <a:sym typeface="Century Gothic"/>
                <a:hlinkClick r:id="rId9"/>
              </a:rPr>
              <a:t>https://github.com/piggyatbaqaqi/skol/blob/main/docs/technologies.md</a:t>
            </a:r>
            <a:r>
              <a:rPr lang="en-US" sz="1800">
                <a:solidFill>
                  <a:schemeClr val="lt1"/>
                </a:solidFill>
                <a:latin typeface="Century Gothic"/>
                <a:ea typeface="Century Gothic"/>
                <a:cs typeface="Century Gothic"/>
                <a:sym typeface="Century Gothic"/>
              </a:rPr>
              <a:t> for.</a:t>
            </a:r>
            <a:endParaRPr sz="1800">
              <a:solidFill>
                <a:schemeClr val="lt1"/>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t/>
            </a:r>
            <a:endParaRPr sz="2000">
              <a:solidFill>
                <a:schemeClr val="lt1"/>
              </a:solidFill>
              <a:latin typeface="Century Gothic"/>
              <a:ea typeface="Century Gothic"/>
              <a:cs typeface="Century Gothic"/>
              <a:sym typeface="Century Gothic"/>
            </a:endParaRPr>
          </a:p>
          <a:p>
            <a:pPr indent="0" lvl="0" marL="0" rtl="0" algn="l">
              <a:spcBef>
                <a:spcPts val="0"/>
              </a:spcBef>
              <a:spcAft>
                <a:spcPts val="0"/>
              </a:spcAft>
              <a:buNone/>
            </a:pPr>
            <a:r>
              <a:t/>
            </a:r>
            <a:endParaRPr sz="2000">
              <a:solidFill>
                <a:schemeClr val="lt1"/>
              </a:solidFill>
            </a:endParaRPr>
          </a:p>
        </p:txBody>
      </p:sp>
      <p:pic>
        <p:nvPicPr>
          <p:cNvPr id="310" name="Google Shape;310;g3ce41fdc5fc_0_6"/>
          <p:cNvPicPr preferRelativeResize="0"/>
          <p:nvPr/>
        </p:nvPicPr>
        <p:blipFill rotWithShape="1">
          <a:blip r:embed="rId10">
            <a:alphaModFix/>
          </a:blip>
          <a:srcRect b="0" l="27006" r="32286" t="0"/>
          <a:stretch/>
        </p:blipFill>
        <p:spPr>
          <a:xfrm>
            <a:off x="7229175" y="1"/>
            <a:ext cx="4963245" cy="6858001"/>
          </a:xfrm>
          <a:custGeom>
            <a:rect b="b" l="l" r="r" t="t"/>
            <a:pathLst>
              <a:path extrusionOk="0" h="6858001" w="4963245">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d18e836f13_0_19"/>
          <p:cNvSpPr txBox="1"/>
          <p:nvPr/>
        </p:nvSpPr>
        <p:spPr>
          <a:xfrm>
            <a:off x="1264600" y="1297026"/>
            <a:ext cx="9419700" cy="51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000">
              <a:solidFill>
                <a:schemeClr val="lt1"/>
              </a:solidFill>
            </a:endParaRPr>
          </a:p>
        </p:txBody>
      </p:sp>
      <p:pic>
        <p:nvPicPr>
          <p:cNvPr id="317" name="Google Shape;317;g3d18e836f13_0_19"/>
          <p:cNvPicPr preferRelativeResize="0"/>
          <p:nvPr/>
        </p:nvPicPr>
        <p:blipFill rotWithShape="1">
          <a:blip r:embed="rId3">
            <a:alphaModFix/>
          </a:blip>
          <a:srcRect b="0" l="27006" r="32286" t="0"/>
          <a:stretch/>
        </p:blipFill>
        <p:spPr>
          <a:xfrm>
            <a:off x="7229175" y="1"/>
            <a:ext cx="4963245" cy="6858001"/>
          </a:xfrm>
          <a:custGeom>
            <a:rect b="b" l="l" r="r" t="t"/>
            <a:pathLst>
              <a:path extrusionOk="0" h="6858001" w="4963245">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a:noFill/>
          <a:ln>
            <a:noFill/>
          </a:ln>
        </p:spPr>
      </p:pic>
      <p:sp>
        <p:nvSpPr>
          <p:cNvPr id="318" name="Google Shape;318;g3d18e836f13_0_19"/>
          <p:cNvSpPr txBox="1"/>
          <p:nvPr/>
        </p:nvSpPr>
        <p:spPr>
          <a:xfrm>
            <a:off x="210375" y="189325"/>
            <a:ext cx="6437400" cy="8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lt1"/>
                </a:solidFill>
                <a:latin typeface="Century Gothic"/>
                <a:ea typeface="Century Gothic"/>
                <a:cs typeface="Century Gothic"/>
                <a:sym typeface="Century Gothic"/>
              </a:rPr>
              <a:t>Appendix: Sources</a:t>
            </a:r>
            <a:endParaRPr sz="2800">
              <a:solidFill>
                <a:schemeClr val="lt1"/>
              </a:solidFill>
              <a:latin typeface="Century Gothic"/>
              <a:ea typeface="Century Gothic"/>
              <a:cs typeface="Century Gothic"/>
              <a:sym typeface="Century Gothic"/>
            </a:endParaRPr>
          </a:p>
        </p:txBody>
      </p:sp>
      <p:pic>
        <p:nvPicPr>
          <p:cNvPr id="319" name="Google Shape;319;g3d18e836f13_0_19" title="sources.png"/>
          <p:cNvPicPr preferRelativeResize="0"/>
          <p:nvPr/>
        </p:nvPicPr>
        <p:blipFill>
          <a:blip r:embed="rId4">
            <a:alphaModFix/>
          </a:blip>
          <a:stretch>
            <a:fillRect/>
          </a:stretch>
        </p:blipFill>
        <p:spPr>
          <a:xfrm>
            <a:off x="2324313" y="736275"/>
            <a:ext cx="7300274" cy="58061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2025-02-17T19:00:16Z</dcterms:created>
  <dc:creator>David Caspers</dc:creator>
</cp:coreProperties>
</file>